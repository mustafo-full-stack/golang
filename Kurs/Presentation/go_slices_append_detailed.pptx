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A4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3A4B"/>
                </a:solidFill>
                <a:latin typeface="Arial"/>
              </a:rPr>
              <a:t>cap после каждого append() (len = номер шага на оси X)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 после этого append()</c:v>
                </c:pt>
              </c:strCache>
            </c:strRef>
          </c:tx>
          <c:spPr>
            <a:solidFill>
              <a:srgbClr val="00A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3A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16</c:v>
                </c:pt>
                <c:pt idx="9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3A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50" b="0" i="0" u="none" strike="noStrike">
                    <a:solidFill>
                      <a:srgbClr val="000000"/>
                    </a:solidFill>
                    <a:latin typeface="Arial"/>
                  </a:rPr>
                  <a:t>номер append()  =  len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4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5DC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50" b="0" i="0" u="none" strike="noStrike">
                    <a:solidFill>
                      <a:srgbClr val="000000"/>
                    </a:solidFill>
                    <a:latin typeface="Arial"/>
                  </a:rPr>
                  <a:t>cap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4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44568" y="777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4456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21224" y="777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21224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97880" y="777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9788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74536" y="777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251192" y="7772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0" y="21488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Слайсы в Go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0" y="30632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Подробный разбор: механика append(), и когда срезы делят память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за шагом, с иллюстрацией каждого этапа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ИЗ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и срез: что это такое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чего состоит срез и как считаются его len и cap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≠ срез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(array)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— часть типа: [5]int и [3]int — разные типы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28216" y="23317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28216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33472" y="23317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38728" y="23317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8728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23317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43984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 = 5    cap = 5   (у массива всегда len = cap)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EFF3F4"/>
          </a:solidFill>
          <a:ln w="12700">
            <a:solidFill>
              <a:srgbClr val="D5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77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— это сами данные. При присваивании (b := a) копируется КАЖДЫЙ элемент — получаются два независимых массива.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0" cy="4663440"/>
          </a:xfrm>
          <a:prstGeom prst="line">
            <a:avLst/>
          </a:prstGeom>
          <a:noFill/>
          <a:ln w="15875">
            <a:solidFill>
              <a:srgbClr val="D5DCDF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00800" y="12344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(slice)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0080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Слайс — это «окно» в массив, а не сами данные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233172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42316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2834640"/>
            <a:ext cx="1673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адрес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65592" y="233172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242316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65592" y="2834640"/>
            <a:ext cx="1673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30384" y="2331720"/>
            <a:ext cx="1673352" cy="960120"/>
          </a:xfrm>
          <a:prstGeom prst="roundRect">
            <a:avLst>
              <a:gd name="adj" fmla="val 7619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0384" y="242316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930384" y="2834640"/>
            <a:ext cx="1673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345643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значения, а не данные: указатель + длина + ёмкость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0" y="39776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EAF7FB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977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 элементы лежат отдельно, в массиве. При присваивании (b := a) копируются только эти 3 числа — массив остаётся один на двоих!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 среза: arr[1:4]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:= [6]int{10, 20, 30, 40, 50, 60}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:= arr[1:4]        // len(s) = 3, cap(s) = 5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834640" y="22860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77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34640" y="26974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22860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377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0" y="26974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22860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377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26974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187452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→  заголовок среза (лежит отдельно от данных)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H="1">
            <a:off x="3579876" y="3154680"/>
            <a:ext cx="32004" cy="1371600"/>
          </a:xfrm>
          <a:prstGeom prst="line">
            <a:avLst/>
          </a:prstGeom>
          <a:noFill/>
          <a:ln w="28575">
            <a:solidFill>
              <a:srgbClr val="1B3A4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48840" y="452628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E7ECEE"/>
          </a:solidFill>
          <a:ln w="22225">
            <a:solidFill>
              <a:srgbClr val="D5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4526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48840" y="54315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45536" y="452628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45536" y="4526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45536" y="54315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42232" y="452628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42232" y="4526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42232" y="54315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38928" y="452628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38928" y="4526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38928" y="54315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35624" y="452628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135624" y="4526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35624" y="54315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32320" y="452628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7132320" y="4526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54315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148840" y="5705856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массив arr  (6 ячеек в памяти)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0" y="59893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0ADD8"/>
          </a:solidFill>
          <a:ln w="15875">
            <a:solidFill>
              <a:srgbClr val="007D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72384" y="59618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среди len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394960" y="59893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8FCBDD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724144" y="59618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пределах cap, но не видно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46720" y="59893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7ECEE"/>
          </a:solidFill>
          <a:ln w="15875">
            <a:solidFill>
              <a:srgbClr val="D5DC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75904" y="59618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 среза (до pointer)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 как считаются len и cap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FF3F4"/>
          </a:solidFill>
          <a:ln w="12700">
            <a:solidFill>
              <a:srgbClr val="D5DC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097280"/>
            <a:ext cx="10451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:= arr[low:high]   →   </a:t>
            </a:r>
            <a:pPr algn="l" indent="0" marL="0">
              <a:buNone/>
            </a:pPr>
            <a:r>
              <a:rPr lang="en-US" sz="14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len(s) = high − low</a:t>
            </a:r>
            <a:pPr algn="l" indent="0" marL="0">
              <a:buNone/>
            </a:pPr>
            <a:r>
              <a:rPr lang="en-US" sz="14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algn="l" indent="0" marL="0">
              <a:buNone/>
            </a:pPr>
            <a:r>
              <a:rPr lang="en-US" sz="1450" b="1" dirty="0">
                <a:solidFill>
                  <a:srgbClr val="C74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cap(s) = cap(arr) − low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arr[0:2]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60520" y="20848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60520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45736" y="20848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45736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30952" y="20848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330952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16168" y="20848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916168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01384" y="20848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501384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86600" y="20848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086600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64424" y="20848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 = 2 − 0 = 2      cap = 6 − 0 = 6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29718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arr[2:4]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60520" y="29535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7ECEE"/>
          </a:solidFill>
          <a:ln w="22225">
            <a:solidFill>
              <a:srgbClr val="D5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2953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45736" y="29535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7ECEE"/>
          </a:solidFill>
          <a:ln w="22225">
            <a:solidFill>
              <a:srgbClr val="D5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2953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30952" y="29535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30952" y="2953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16168" y="29535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16168" y="2953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01384" y="29535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501384" y="2953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086600" y="29535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086600" y="2953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64424" y="29535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 = 4 − 2 = 2      cap = 6 − 2 = 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3840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arr[4:6]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160520" y="38221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7ECEE"/>
          </a:solidFill>
          <a:ln w="22225">
            <a:solidFill>
              <a:srgbClr val="D5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45736" y="38221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7ECEE"/>
          </a:solidFill>
          <a:ln w="22225">
            <a:solidFill>
              <a:srgbClr val="D5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330952" y="38221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7ECEE"/>
          </a:solidFill>
          <a:ln w="22225">
            <a:solidFill>
              <a:srgbClr val="D5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0952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916168" y="38221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7ECEE"/>
          </a:solidFill>
          <a:ln w="22225">
            <a:solidFill>
              <a:srgbClr val="D5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16168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501384" y="38221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501384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086600" y="382219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086600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964424" y="38221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 = 6 − 4 = 2      cap = 6 − 4 = 2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7FB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4892040"/>
            <a:ext cx="10451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массив, три разных окна: чем больше low, тем меньше доступный «хвост» (cap). Все три среза — это ссылки на один и тот же участок памяти.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ИЗ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память или нет?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вопрос при работе со срезами в Go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срезов — один массив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s2 и s3 — три разных среза, но все указывают на один и тот же массив в памяти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099816" y="3703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99816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99816" y="45171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68496" y="3703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68496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68496" y="45171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37176" y="3703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37176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37176" y="45171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05856" y="3703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05856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05856" y="45171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74536" y="3703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74536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74536" y="45171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43216" y="3703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43216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43216" y="45171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11896" y="3703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11896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11896" y="45171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99816" y="3246120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007D9C"/>
          </a:solidFill>
          <a:ln w="12700">
            <a:solidFill>
              <a:srgbClr val="007D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9816" y="29535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:= arr[0:3]   len=3, cap=7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43216" y="3246120"/>
            <a:ext cx="1645920" cy="822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2953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:= arr[5:7]   len=2, cap=2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37176" y="2697480"/>
            <a:ext cx="2514600" cy="82296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7176" y="24048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:= arr[2:5]   len=3, cap=5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99816" y="4791456"/>
            <a:ext cx="5989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— единственный настоящий массив в памяти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AF7FB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074920"/>
            <a:ext cx="10451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внимание на ячейку idx=2 — она видна и в s1 (как последний элемент, вне len но в cap), и в s2 (как первый элемент). Это не совпадение: slice-выражение НИКОГДА не копирует данные, оно только создаёт новое «окно» в существующий массив.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Делят память — или нет?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252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ADD8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18872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ДЕЛЯТ один массив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146304" cy="146304"/>
          </a:xfrm>
          <a:prstGeom prst="ellipse">
            <a:avLst/>
          </a:prstGeom>
          <a:solidFill>
            <a:srgbClr val="00ADD8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55648"/>
            <a:ext cx="4919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:= a[i:j]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новое окно в тот же массив, что и 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146304" cy="146304"/>
          </a:xfrm>
          <a:prstGeom prst="ellipse">
            <a:avLst/>
          </a:prstGeom>
          <a:solidFill>
            <a:srgbClr val="00ADD8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532888"/>
            <a:ext cx="4919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:= a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(для среза) →  копируются лишь 3 числа заголовка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456432"/>
            <a:ext cx="146304" cy="146304"/>
          </a:xfrm>
          <a:prstGeom prst="ellipse">
            <a:avLst/>
          </a:prstGeom>
          <a:solidFill>
            <a:srgbClr val="00ADD8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310128"/>
            <a:ext cx="4919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append(b, x)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если len(b) &lt; cap(b)  →  пишет в тот же массив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1188720"/>
            <a:ext cx="0" cy="4480560"/>
          </a:xfrm>
          <a:prstGeom prst="line">
            <a:avLst/>
          </a:prstGeom>
          <a:noFill/>
          <a:ln w="15875">
            <a:solidFill>
              <a:srgbClr val="D5DCD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0" y="12252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118872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7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массив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901952"/>
            <a:ext cx="146304" cy="14630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755648"/>
            <a:ext cx="4919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+ copy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новый массив, данные скопированы вручную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2679192"/>
            <a:ext cx="146304" cy="14630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2532888"/>
            <a:ext cx="4919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append(b, x)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если len(b) == cap(b)  →  Go выделяет новый массив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3456432"/>
            <a:ext cx="146304" cy="14630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310128"/>
            <a:ext cx="4919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:= []T{...}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новый литерал  →  всегда новый, независимый массив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1E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44068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переключатель — append() на грани cap: одно и то же действие иногда делит память, а иногда — нет. Разберём это по шагам дальше.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 на практике: общий массив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:= []int{1, 2, 3, 4, 5}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:= a[1:3]              // len=2, cap=4 — общий массив с a!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append(b, 99)        // место в cap ЕСТЬ -&gt; пишет прямо в массив 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913632" y="23317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13632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D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(len=2, cap=4)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90872" y="2788920"/>
            <a:ext cx="9144" cy="274320"/>
          </a:xfrm>
          <a:prstGeom prst="line">
            <a:avLst/>
          </a:prstGeom>
          <a:noFill/>
          <a:ln w="28575">
            <a:solidFill>
              <a:srgbClr val="1B3A4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63240" y="30632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E7ECEE"/>
          </a:solidFill>
          <a:ln w="22225">
            <a:solidFill>
              <a:srgbClr val="D5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63240" y="38313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13632" y="30632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13632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13632" y="38313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64024" y="30632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64024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64024" y="38313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14416" y="30632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614416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14416" y="38313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64808" y="30632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4648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64808" y="38313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63240" y="4087368"/>
            <a:ext cx="4133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a — до append(b, 99)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361688"/>
            <a:ext cx="9144" cy="438912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063240" y="48920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E7ECEE"/>
          </a:solidFill>
          <a:ln w="22225">
            <a:solidFill>
              <a:srgbClr val="D5DC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063240" y="56601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13632" y="48920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13632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913632" y="56601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64024" y="48920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64024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64024" y="56601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14416" y="48920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FF6B35"/>
          </a:solidFill>
          <a:ln w="22225">
            <a:solidFill>
              <a:srgbClr val="C74E1B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14416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614416" y="56601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64808" y="48920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464808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64808" y="56601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063240" y="5916168"/>
            <a:ext cx="4133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a — ПОСЛЕ append(b, 99): a[3] тоже стал 99!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ИЗ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append(), когда cap хватает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 &lt; cap — самый частый случай на практике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1: что у нас есть сейчас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46920" y="438912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4389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ИЗ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:= []int{20, 30, 40}   // len=3, cap=5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43400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05272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5272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05272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67144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67144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flipH="1">
            <a:off x="4000500" y="2514600"/>
            <a:ext cx="928116" cy="731520"/>
          </a:xfrm>
          <a:prstGeom prst="line">
            <a:avLst/>
          </a:prstGeom>
          <a:noFill/>
          <a:ln w="28575">
            <a:solidFill>
              <a:srgbClr val="1B3A4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66160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66160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53712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53712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53712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41264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41264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41264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28816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528816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16368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516368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66160" y="4425696"/>
            <a:ext cx="4818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массив из 5 ячеек в памяти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FF3F4"/>
          </a:solidFill>
          <a:ln w="12700">
            <a:solidFill>
              <a:srgbClr val="D5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212080"/>
            <a:ext cx="10451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s занимает первые 3 ячейки массива из 5. Ещё 2 ячейки зарезервированы (входят в cap), но пока не используются.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2: append() проверяет cap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46920" y="438912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4389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ИЗ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append(s, 99)   // сначала Go смотрит: cap − len = 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43400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05272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5272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05272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67144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67144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flipH="1">
            <a:off x="4000500" y="2514600"/>
            <a:ext cx="928116" cy="731520"/>
          </a:xfrm>
          <a:prstGeom prst="line">
            <a:avLst/>
          </a:prstGeom>
          <a:noFill/>
          <a:ln w="28575">
            <a:solidFill>
              <a:srgbClr val="1B3A4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66160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66160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53712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53712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53712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41264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41264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41264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28816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34925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4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28816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16368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516368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66160" y="4425696"/>
            <a:ext cx="4818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массив из 5 ячеек в памяти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AF7FB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212080"/>
            <a:ext cx="10451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− len = 5 − 3 = 2 свободные ячейки   →   </a:t>
            </a:r>
            <a:pPr algn="l" indent="0" marL="0">
              <a:buNone/>
            </a:pPr>
            <a:r>
              <a:rPr lang="en-US" sz="14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ЕСТЬ ✓</a:t>
            </a:r>
            <a:pPr algn="l"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новый массив выделять не нужно.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3: запись на месте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46920" y="438912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4389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 ИЗ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записывается в ячейку idx=3, len увеличивается на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43400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05272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5272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05272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67144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67144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flipH="1">
            <a:off x="4000500" y="2514600"/>
            <a:ext cx="928116" cy="731520"/>
          </a:xfrm>
          <a:prstGeom prst="line">
            <a:avLst/>
          </a:prstGeom>
          <a:noFill/>
          <a:ln w="28575">
            <a:solidFill>
              <a:srgbClr val="1B3A4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66160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66160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53712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53712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53712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41264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41264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41264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28816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FF6B35"/>
          </a:solidFill>
          <a:ln w="22225">
            <a:solidFill>
              <a:srgbClr val="C74E1B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28816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28816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16368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516368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66160" y="4425696"/>
            <a:ext cx="4818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массив из 5 ячеек в памяти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AF7FB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212080"/>
            <a:ext cx="10451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len: 3 → 4.  cap остаётся 5. Pointer НЕ поменялся — append() дописал значение в тот же массив, что был у s изначально.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 ИЗ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append(), когда cap НЕ хватает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 == cap — Go выделяет новый массив в памяти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1: место закончилось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46920" y="438912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4389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ИЗ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:= []int{20, 30, 40, 50, 60}   // len=5, cap=5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43400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05272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5272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05272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67144" y="17373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8288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67144" y="205740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flipH="1">
            <a:off x="4000500" y="2514600"/>
            <a:ext cx="928116" cy="731520"/>
          </a:xfrm>
          <a:prstGeom prst="line">
            <a:avLst/>
          </a:prstGeom>
          <a:noFill/>
          <a:ln w="28575">
            <a:solidFill>
              <a:srgbClr val="1B3A4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66160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66160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53712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53712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53712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41264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41264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41264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28816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28816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28816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16368" y="32461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16368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516368" y="4151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66160" y="4425696"/>
            <a:ext cx="4818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массив из 5 ячеек, все заняты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1E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212080"/>
            <a:ext cx="10451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− len = 5 − 5 = 0 свободных ячеек   →   </a:t>
            </a:r>
            <a:pPr algn="l" indent="0" marL="0">
              <a:buNone/>
            </a:pPr>
            <a:r>
              <a:rPr lang="en-US" sz="1400" b="1" dirty="0">
                <a:solidFill>
                  <a:srgbClr val="C7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МЕСТА НЕТ ✗</a:t>
            </a:r>
            <a:pPr algn="l"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писать некуда, нужен новый массив.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2: сколько памяти нужно?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46920" y="438912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4389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ИЗ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append(s, 77)  →  Go считает новый размер, ПЕРЕД тем как что-то копировать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массив (cap = 5)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35024" y="21031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3502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84248" y="21031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8424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33472" y="21031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33472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82696" y="21031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82696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1E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69164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newCap ≈ oldCap × 2
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C74E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 × 2 = 10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выделяет новый, пока ПУСТОЙ участок памяти нужного размера — данные ещё не скопированы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1605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435608" y="41605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185416" y="41605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935224" y="41605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85032" y="41605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434840" y="41605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184648" y="41605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934456" y="41605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684264" y="41605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434072" y="41605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85800" y="5111496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массив (cap = 10) — пока пустой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3: копируем старые элементы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46920" y="438912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4389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 ИЗ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5 старых значений переносятся в новый массив, по одному значению на ту же позицию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0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массив — данные пока не удалены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9D3D8"/>
          </a:solidFill>
          <a:ln w="22225">
            <a:solidFill>
              <a:srgbClr val="C9D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8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35024" y="2011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9D3D8"/>
          </a:solidFill>
          <a:ln w="22225">
            <a:solidFill>
              <a:srgbClr val="C9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502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8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84248" y="2011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9D3D8"/>
          </a:solidFill>
          <a:ln w="22225">
            <a:solidFill>
              <a:srgbClr val="C9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8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33472" y="2011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9D3D8"/>
          </a:solidFill>
          <a:ln w="22225">
            <a:solidFill>
              <a:srgbClr val="C9D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8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82696" y="20116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9D3D8"/>
          </a:solidFill>
          <a:ln w="22225">
            <a:solidFill>
              <a:srgbClr val="C9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8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0" y="2697480"/>
            <a:ext cx="9144" cy="548640"/>
          </a:xfrm>
          <a:prstGeom prst="line">
            <a:avLst/>
          </a:prstGeom>
          <a:noFill/>
          <a:ln w="31750">
            <a:solidFill>
              <a:srgbClr val="007D9C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429000" y="28163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copy() / memmove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566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35608" y="35661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35608" y="3566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85416" y="35661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85416" y="3566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35224" y="35661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35224" y="3566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85032" y="35661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85032" y="3566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34840" y="35661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184648" y="35661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934456" y="35661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684264" y="35661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434072" y="35661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85800" y="4517136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массив (cap = 10) — первые 5 ячеек уже скопированы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AF7FB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212080"/>
            <a:ext cx="10451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Копируются именно ЗНАЧЕНИЯ (10, 20, 30…), а не указатель — после этого в памяти существуют уже два независимых набора данных.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4: дописываем и обновляем pointer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46920" y="438912"/>
            <a:ext cx="1993392" cy="457200"/>
          </a:xfrm>
          <a:prstGeom prst="roundRect">
            <a:avLst>
              <a:gd name="adj" fmla="val 5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43891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 ИЗ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записывается в новый массив, len=6, а заголовок среза s указывает уже на новый адрес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43400" y="150876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6002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43400" y="178308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новый!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05272" y="150876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5272" y="16002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05272" y="178308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67144" y="150876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60020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67144" y="178308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flipH="1">
            <a:off x="1014984" y="2240280"/>
            <a:ext cx="3913632" cy="73152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" y="297180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35608" y="297180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35608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85416" y="297180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85416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35224" y="297180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35224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85032" y="297180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00ADD8"/>
          </a:solidFill>
          <a:ln w="22225">
            <a:solidFill>
              <a:srgbClr val="007D9C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85032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34840" y="297180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6B35"/>
          </a:solidFill>
          <a:ln w="22225">
            <a:solidFill>
              <a:srgbClr val="C74E1B"/>
            </a:solidFill>
            <a:prstDash val="solid"/>
          </a:ln>
          <a:effectLst>
            <a:outerShdw sx="100000" sy="100000" kx="0" ky="0" algn="bl" rotWithShape="0" blurRad="50800" dist="25400" dir="5400000">
              <a:srgbClr val="1B3A4B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3484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84648" y="297180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934456" y="297180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684264" y="297180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434072" y="297180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8FCBDD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85800" y="3922776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массив: len=6, cap=10 — s теперь указывает СЮДА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416052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0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массив — больше никто не ссылается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5800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C9D3D8"/>
          </a:solidFill>
          <a:ln w="22225">
            <a:solidFill>
              <a:srgbClr val="C9D3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8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261872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C9D3D8"/>
          </a:solidFill>
          <a:ln w="22225">
            <a:solidFill>
              <a:srgbClr val="C9D3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61872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8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837944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C9D3D8"/>
          </a:solidFill>
          <a:ln w="22225">
            <a:solidFill>
              <a:srgbClr val="C9D3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37944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8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414016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C9D3D8"/>
          </a:solidFill>
          <a:ln w="22225">
            <a:solidFill>
              <a:srgbClr val="C9D3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14016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8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990088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C9D3D8"/>
          </a:solidFill>
          <a:ln w="22225">
            <a:solidFill>
              <a:srgbClr val="C9D3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0088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8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5166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0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уберёт сборщик мусора (GC)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41605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1E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416052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среза s обновился: Pointer теперь смотрит на НОВЫЙ массив. Старая переменная-массив «осиротела» и будет удалена сборщиком мусора, если на неё больше никто не ссылается.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части 4: cap растёт скачками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Добавляем элементы по одному в пустой срез: каждый append() увеличивает len ровно на 1 (len = номер шага). А вот cap не растёт на 1 каждый раз — он «перепрыгивает» примерно в 2 раза, когда место заканчивается (см. шаг 2 части 4).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65960"/>
          <a:ext cx="11064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Точные числа зависят от версии Go и типа элементов — важна не цифра, а сама идея скачкообразного роста.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00ADD8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179576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— фиксированный размер, это сами данные. Копируется целиком при присваивании.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502920" cy="502920"/>
          </a:xfrm>
          <a:prstGeom prst="ellipse">
            <a:avLst/>
          </a:prstGeom>
          <a:solidFill>
            <a:srgbClr val="00ADD8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203704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— это 3 числа: pointer + len + cap. Ссылка на часть массива, а не сами данные.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00ADD8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82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22783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Slice-выражение (a[i:j]) и присваивание среза (b := a) — ДЕЛЯТ память с оригиналом.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306824"/>
            <a:ext cx="502920" cy="502920"/>
          </a:xfrm>
          <a:prstGeom prst="ellipse">
            <a:avLst/>
          </a:prstGeom>
          <a:solidFill>
            <a:srgbClr val="00ADD8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2519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append(): len &lt; cap → пишет на месте (тот же массив). len == cap → новый массив (обычно ×2), копирование, новый pointer.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330952"/>
            <a:ext cx="502920" cy="502920"/>
          </a:xfrm>
          <a:prstGeom prst="ellipse">
            <a:avLst/>
          </a:prstGeom>
          <a:solidFill>
            <a:srgbClr val="00ADD8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527608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Осторожно: пока срезы делят память, изменения через один срез иногда видны и в другом.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 ·  Занятие 5  ·  Массивы и срезы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2026-09-02T17:02:30Z</dcterms:created>
  <dcterms:modified xsi:type="dcterms:W3CDTF">2026-09-02T17:02:30Z</dcterms:modified>
</cp:coreProperties>
</file>