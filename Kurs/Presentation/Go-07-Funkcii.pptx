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810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· GOLANG С НУЛЯ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Функции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31546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Разбиваем программу на части, которые можно вызывать сколько угодно раз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04088" y="38862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Объявление функции и её вызов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и возвращаемые значения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результатов сразу и идиома с ошибкой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Практика: калькулятор, разложенный на функции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49640" y="1783080"/>
            <a:ext cx="3200400" cy="3200400"/>
          </a:xfrm>
          <a:prstGeom prst="ellipse">
            <a:avLst/>
          </a:prstGeom>
          <a:solidFill>
            <a:srgbClr val="00ADD8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22860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85496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6327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7 — Функции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ЗАНЯТИЯ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 сегодня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сих пор весь код жил в main. Пора его разложить по полкам.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7 — Функции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5256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9" name="Text 7"/>
          <p:cNvSpPr/>
          <p:nvPr/>
        </p:nvSpPr>
        <p:spPr>
          <a:xfrm>
            <a:off x="905256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44168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Объявление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05256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чего состоит функция и как её вызвать из main.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54832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4288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3674288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3200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Параметры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74288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передать данные внутрь и что с ними там происходит.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23864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3320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332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82232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Возврат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3320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значение, несколько значений и ошибка вторым результатом.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2895" y="1737360"/>
            <a:ext cx="2513000" cy="182880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12351" y="195681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9212351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51263" y="1952244"/>
            <a:ext cx="1635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12351" y="2395728"/>
            <a:ext cx="2074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Переписываем калькулятор с третьего занятия на функциях.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4160520"/>
            <a:ext cx="10820095" cy="960120"/>
          </a:xfrm>
          <a:prstGeom prst="roundRect">
            <a:avLst>
              <a:gd name="adj" fmla="val 5714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1832" y="42885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Повторяем прошлое занятие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41832" y="4544568"/>
            <a:ext cx="1030803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и его операции, приём v, ok для проверки ключа, цикл range по срезам, строкам и map, сортировка ключей.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54406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мысль занятия: функция — это имя, данное куску кода. Дальше этот кусок можно не читать, а просто использовать.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нужны функции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7 — Функции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394960" cy="2194560"/>
          </a:xfrm>
          <a:prstGeom prst="roundRect">
            <a:avLst>
              <a:gd name="adj" fmla="val 2500"/>
            </a:avLst>
          </a:prstGeom>
          <a:solidFill>
            <a:srgbClr val="FDF3EF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4992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В ОДНОЙ КУЧЕ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49926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200 строк подряд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считаем площадь тут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 ещё раз тут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и снова тут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554480"/>
            <a:ext cx="5150815" cy="2194560"/>
          </a:xfrm>
          <a:prstGeom prst="roundRect">
            <a:avLst>
              <a:gd name="adj" fmla="val 25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627632"/>
            <a:ext cx="4748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РАЗЛОЖЕНО ПО ФУНКЦИЯМ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56248" y="1883664"/>
            <a:ext cx="474847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97764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5256" y="41970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4168" y="419252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Пишем один раз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05256" y="458114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живёт в одном месте — и правится тоже в одном.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3938" y="397764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394" y="41970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9" name="Text 17"/>
          <p:cNvSpPr/>
          <p:nvPr/>
        </p:nvSpPr>
        <p:spPr>
          <a:xfrm>
            <a:off x="4603394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42306" y="419252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Понятные имена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03394" y="458114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area(5, 3) читается без пояснений, в отличие от формулы.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82077" y="3977640"/>
            <a:ext cx="3423818" cy="1143000"/>
          </a:xfrm>
          <a:prstGeom prst="roundRect">
            <a:avLst>
              <a:gd name="adj" fmla="val 48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01533" y="41970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4" name="Text 22"/>
          <p:cNvSpPr/>
          <p:nvPr/>
        </p:nvSpPr>
        <p:spPr>
          <a:xfrm>
            <a:off x="8301533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40445" y="4192524"/>
            <a:ext cx="25459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Проще тестировать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01533" y="4581144"/>
            <a:ext cx="298490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Маленькую функцию легко проверить отдельно от всей программы.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53035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Функцию main вы уже писали двенадцать занятий подряд — сегодня научимся создавать свои.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состоит функция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7 — Функции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1005840"/>
          </a:xfrm>
          <a:prstGeom prst="roundRect">
            <a:avLst>
              <a:gd name="adj" fmla="val 545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АНАТОМИЯ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30"/>
              </a:lnSpc>
              <a:buNone/>
            </a:pPr>
            <a:r>
              <a:rPr lang="en-US" sz="15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 </a:t>
            </a:r>
            <a:r>
              <a:rPr lang="en-US" sz="15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5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743200"/>
            <a:ext cx="5852160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43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ключевое слово — объявляем функцию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346704"/>
            <a:ext cx="5852160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4670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имя, по которому будем вызывать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950208"/>
            <a:ext cx="5852160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502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(w, h int)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параметры: что принимаем на вход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4553712"/>
            <a:ext cx="5852160" cy="502920"/>
          </a:xfrm>
          <a:prstGeom prst="roundRect">
            <a:avLst>
              <a:gd name="adj" fmla="val 1090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55371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</a:t>
            </a: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тип того, что функция вернёт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12280" y="1554480"/>
            <a:ext cx="4693615" cy="2651760"/>
          </a:xfrm>
          <a:prstGeom prst="roundRect">
            <a:avLst>
              <a:gd name="adj" fmla="val 206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ОБЪЯВЛЯЕМ И ВЫЗЫВАЕМ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13448" y="1883664"/>
            <a:ext cx="429127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12280" y="4389120"/>
            <a:ext cx="4693615" cy="1325880"/>
          </a:xfrm>
          <a:prstGeom prst="roundRect">
            <a:avLst>
              <a:gd name="adj" fmla="val 4138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45171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писать функции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68312" y="4773168"/>
            <a:ext cx="418155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 с main, на верхнем уровне файла. Порядок не важен: Go найдёт функцию, даже если она объявлена ниже вызова.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Параметры функции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7 — Функции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СПОСОБЫ ЗАПИСИ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короче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greet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 пишется после имени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int a, а a int — порядок обратный привычному.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569464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8434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Одинаковые типы группируются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31736" y="3118104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b int вместо a int, b int.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584448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799332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Аргументы копируются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31736" y="4133088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работает с копией — оригинал не меняется.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Термины, которые часто путают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— это имена в объявлении функции: func add(a, b int). Аргументы — конкретные значения при вызове: add(2, 3). Разница небольшая, но на собеседованиях спрашивают.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Возвращаемое значение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7 — Функции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ВОЗВРАТОМ И БЕЗ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square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sayHi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ничего не возвращает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"Привет,"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square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sayHi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"Аня"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3173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03173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70648" y="176936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 указывается после скобок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31736" y="2103120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int — обещание вернуть целое число.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12280" y="2569464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3173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03173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70648" y="278434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завершает функцию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31736" y="3118104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после него не выполнится.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12280" y="3584448"/>
            <a:ext cx="469361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70648" y="3799332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Обещал — верни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31736" y="4133088"/>
            <a:ext cx="425470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тип указан, return обязателен на всех путях.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Ранний выход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можно ставить в середине функции — например, сразу вернуть ответ для особого случая и не выполнять остальной код. Этот приём делает функции короче и понятнее, чем длинные цепочки else.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ОСОБЕННОСТЬ 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Несколько значений сразу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7 — Функции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7432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РЕЗУЛЬТАТА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divmod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divmod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2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Типы в скобках через запятую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(int, int) — функция вернёт два целых числа.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Через запятую и в return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/ b, a % b — оба значения сразу.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Принимаем тоже парой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r := divmod(17, 5) — по одной переменной на результат.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526280"/>
            <a:ext cx="10820095" cy="1188720"/>
          </a:xfrm>
          <a:prstGeom prst="roundRect">
            <a:avLst>
              <a:gd name="adj" fmla="val 4615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важно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4910328"/>
            <a:ext cx="1030803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многих языках вернуть два значения нельзя — приходится придумывать структуру или менять аргумент через указатель. В Go это обычная запись, и на ней построена вся работа с ошибками.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ИДИОМА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Ошибка как второй результат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7 — Функции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5943600" cy="2651760"/>
          </a:xfrm>
          <a:prstGeom prst="roundRect">
            <a:avLst>
              <a:gd name="adj" fmla="val 206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8191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 ВОЗВРАЩАЕТ РЕЗУЛЬТАТ И ОШИБКУ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37944"/>
            <a:ext cx="55412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divide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"деление на ноль"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03720" y="1508760"/>
            <a:ext cx="4602175" cy="2651760"/>
          </a:xfrm>
          <a:prstGeom prst="roundRect">
            <a:avLst>
              <a:gd name="adj" fmla="val 2069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04888" y="1581912"/>
            <a:ext cx="4199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ЕЁ ВЫЗЫВАЮТ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04888" y="1837944"/>
            <a:ext cx="4199839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divide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"Ошибка:"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343400"/>
            <a:ext cx="10820095" cy="1371600"/>
          </a:xfrm>
          <a:prstGeom prst="roundRect">
            <a:avLst>
              <a:gd name="adj" fmla="val 4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4714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читать этот код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727448"/>
            <a:ext cx="1030803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Go нет исключений и конструкции try-catch. Вместо этого функция честно говорит: «вот результат, а вот что пошло не так». Значение nil в переменной err означает, что ошибки нет.</a:t>
            </a:r>
            <a:endParaRPr lang="en-US" sz="1350" dirty="0"/>
          </a:p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if err != nil идёт сразу после вызова — вы будете встречать её в каждом Go-проекте буквально на каждом экране.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Игнорируем результат и делимся функцией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7 — Функции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852160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ПУСТОЙ ИДЕНТИФИКАТОР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449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divmod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остаток не нужен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saveFile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важна только ошибка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нельзя просто q := divmod(17, 5)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придётся принять оба значения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12280" y="1554480"/>
            <a:ext cx="4693615" cy="2286000"/>
          </a:xfrm>
          <a:prstGeom prst="roundRect">
            <a:avLst>
              <a:gd name="adj" fmla="val 2400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62763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БОЛЬШАЯ БУКВА = ЭКСПОРТ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883664"/>
            <a:ext cx="429127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видна из других пакетов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area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3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46"/>
              </a:lnSpc>
              <a:buNone/>
            </a:pPr>
            <a:r>
              <a:rPr lang="en-US" sz="13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только внутри своего пакета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10820095" cy="1691640"/>
          </a:xfrm>
          <a:prstGeom prst="roundRect">
            <a:avLst>
              <a:gd name="adj" fmla="val 3243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правила, о которых легко забыть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41832" y="4407408"/>
            <a:ext cx="10308031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Если функция возвращает два значения, принять нужно оба. Ненужное заменяем на _ — тогда компилятор не будет ругаться на неиспользуемую переменную.</a:t>
            </a:r>
            <a:endParaRPr lang="en-US" sz="1400" dirty="0"/>
          </a:p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Регистр первой буквы имени в Go — это не стиль, а модификатор доступа. Println пишется с большой буквы именно поэтому: функция экспортирована из пакета fmt.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ГИБКОСТЬ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Любое количество аргументов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7 — Функции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943600" cy="2834640"/>
          </a:xfrm>
          <a:prstGeom prst="roundRect">
            <a:avLst>
              <a:gd name="adj" fmla="val 193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62763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ТОЧКИ ПЕРЕД ТИПОМ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883664"/>
            <a:ext cx="55412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17"/>
              </a:lnSpc>
              <a:buNone/>
            </a:pP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sum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nums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+=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35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5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6</a:t>
            </a:r>
            <a:endParaRPr lang="en-US" sz="1350" dirty="0"/>
          </a:p>
          <a:p>
            <a:pPr marL="0" indent="0">
              <a:lnSpc>
                <a:spcPts val="1917"/>
              </a:lnSpc>
              <a:buNone/>
            </a:pP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35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r>
              <a:rPr lang="en-US" sz="135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35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903720" y="1554480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23176" y="177393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1" name="Text 9"/>
          <p:cNvSpPr/>
          <p:nvPr/>
        </p:nvSpPr>
        <p:spPr>
          <a:xfrm>
            <a:off x="7123176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62088" y="1769364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Внутри это обычный срез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23176" y="2103120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nums имеет тип []int — работаем через range.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03720" y="2569464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278892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6" name="Text 14"/>
          <p:cNvSpPr/>
          <p:nvPr/>
        </p:nvSpPr>
        <p:spPr>
          <a:xfrm>
            <a:off x="7123176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62088" y="2784348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Аргументов может быть ноль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3176" y="3118104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sum() вернёт 0 и не сломается.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3584448"/>
            <a:ext cx="4602175" cy="896112"/>
          </a:xfrm>
          <a:prstGeom prst="roundRect">
            <a:avLst>
              <a:gd name="adj" fmla="val 612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23176" y="3803904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1" name="Text 19"/>
          <p:cNvSpPr/>
          <p:nvPr/>
        </p:nvSpPr>
        <p:spPr>
          <a:xfrm>
            <a:off x="7123176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62088" y="3799332"/>
            <a:ext cx="3724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Срез разворачиваем троеточием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4133088"/>
            <a:ext cx="416326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sum(nums...) — знакомый приём с пятого занятия.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617720"/>
            <a:ext cx="1082009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" y="47457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Знакомый пример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41832" y="5001768"/>
            <a:ext cx="1030803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Именно так устроен fmt.Println — он принимает сколько угодно аргументов любого типа. Вариативный параметр может быть только один и только последним в списке.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Частые ошибки с функциями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7 — Функции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return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3544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Не все ветки функции возвращают значение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Добавить return в конце функции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1554480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0752" y="1737360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many return values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70752" y="2066544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Возвращаете больше, чем объявили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70752" y="2414016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Сверить return с сигнатурой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 mismatch: 1 variable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23544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Приняли одно значение вместо двух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23544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v, err := f() или v, _ := f()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33008" y="3127248"/>
            <a:ext cx="5272888" cy="1353312"/>
          </a:xfrm>
          <a:prstGeom prst="roundRect">
            <a:avLst>
              <a:gd name="adj" fmla="val 4054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0752" y="3310128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B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undefined: myFunc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0752" y="3639312"/>
            <a:ext cx="479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Опечатка в имени или другой регистр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0752" y="3986784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Имена в Go чувствительны к регистру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" y="4974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Хорошая привычка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" y="5230368"/>
            <a:ext cx="103080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функция — одна задача. Если внутри больше 30 строк или в названии просится слово «и» (посчитатьИВывести), функцию стоит разделить на две.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Задача: калькулятор на функциях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88724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Возвращаемся к программе с третьего занятия и наводим в ней порядок.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7 — Функции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5852160" cy="2880360"/>
          </a:xfrm>
          <a:prstGeom prst="roundRect">
            <a:avLst>
              <a:gd name="adj" fmla="val 1905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21031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СДЕЛАТЬ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Вынести каждую операцию в свою функцию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Деление должно возвращать результат и ошибку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только читает ввод и печатает ответ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функцию для вывода результата</a:t>
            </a:r>
            <a:endParaRPr lang="en-US" sz="1350" dirty="0"/>
          </a:p>
          <a:p>
            <a:pPr marL="342900" indent="-342900">
              <a:lnSpc>
                <a:spcPts val="1755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работу на делении на ноль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31736" y="2139696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2" name="Text 10"/>
          <p:cNvSpPr/>
          <p:nvPr/>
        </p:nvSpPr>
        <p:spPr>
          <a:xfrm>
            <a:off x="7031736" y="2139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70648" y="2135124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add, sub, mul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031736" y="2414016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Принимают два float64, возвращают одно.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2724912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31736" y="2944368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17" name="Text 15"/>
          <p:cNvSpPr/>
          <p:nvPr/>
        </p:nvSpPr>
        <p:spPr>
          <a:xfrm>
            <a:off x="7031736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70648" y="2939796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31736" y="3218688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Возвращает (float64, error).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12280" y="3529584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3749040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2" name="Text 20"/>
          <p:cNvSpPr/>
          <p:nvPr/>
        </p:nvSpPr>
        <p:spPr>
          <a:xfrm>
            <a:off x="703173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70648" y="3744468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31736" y="4023360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по операции внутри функции.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4334256"/>
            <a:ext cx="4693615" cy="713232"/>
          </a:xfrm>
          <a:prstGeom prst="roundRect">
            <a:avLst>
              <a:gd name="adj" fmla="val 7692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4553712"/>
            <a:ext cx="310896" cy="310896"/>
          </a:xfrm>
          <a:prstGeom prst="ellipse">
            <a:avLst/>
          </a:prstGeom>
          <a:solidFill>
            <a:srgbClr val="007D9C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4553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70648" y="4549140"/>
            <a:ext cx="3815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031736" y="4828032"/>
            <a:ext cx="4254703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dirty="0">
                <a:solidFill>
                  <a:srgbClr val="3A46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Ввод, вызов, проверка ошибки, вывод.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230368"/>
            <a:ext cx="10820095" cy="777240"/>
          </a:xfrm>
          <a:prstGeom prst="roundRect">
            <a:avLst>
              <a:gd name="adj" fmla="val 7059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3583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1832" y="5614416"/>
            <a:ext cx="1030803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Готовая main должна умещаться в десять строк — вся логика уезжает в функции.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65760"/>
            <a:ext cx="108200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логика в функциях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8580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с нуля · Занятие 7 — Функции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865815" y="6327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5852160" cy="4343400"/>
          </a:xfrm>
          <a:prstGeom prst="roundRect">
            <a:avLst>
              <a:gd name="adj" fmla="val 1263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36192"/>
            <a:ext cx="5449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86968" y="1792224"/>
            <a:ext cx="5449824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1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i="1" dirty="0">
                <a:solidFill>
                  <a:srgbClr val="8C9A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sub и mul устроены точно так же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1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"делить на ноль нельзя"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calculate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</a:t>
            </a:r>
            <a:r>
              <a:rPr lang="en-US" sz="11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 </a:t>
            </a:r>
            <a:r>
              <a:rPr lang="en-US" sz="11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float64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7A4E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"+"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add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div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errors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1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"неизвестная операция"</a:t>
            </a: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ts val="1562"/>
              </a:lnSpc>
              <a:buNone/>
            </a:pPr>
            <a:r>
              <a:rPr lang="en-US" sz="11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12280" y="1463040"/>
            <a:ext cx="4693615" cy="2377440"/>
          </a:xfrm>
          <a:prstGeom prst="roundRect">
            <a:avLst>
              <a:gd name="adj" fmla="val 2308"/>
            </a:avLst>
          </a:prstGeom>
          <a:solidFill>
            <a:srgbClr val="F4F7F8"/>
          </a:solidFill>
          <a:ln w="9525">
            <a:solidFill>
              <a:srgbClr val="DC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13448" y="1536192"/>
            <a:ext cx="42912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СТАЛ КОРОТКИМ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13448" y="1792224"/>
            <a:ext cx="429127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calculate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"Ошибка:"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err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b="1" dirty="0">
                <a:solidFill>
                  <a:srgbClr val="0B5E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fmt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8A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"Ответ:"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B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</a:t>
            </a: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ts val="1704"/>
              </a:lnSpc>
              <a:buNone/>
            </a:pPr>
            <a:r>
              <a:rPr lang="en-US" sz="1200" dirty="0">
                <a:solidFill>
                  <a:srgbClr val="5A68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12280" y="4023360"/>
            <a:ext cx="4693615" cy="1097280"/>
          </a:xfrm>
          <a:prstGeom prst="roundRect">
            <a:avLst>
              <a:gd name="adj" fmla="val 5000"/>
            </a:avLst>
          </a:prstGeom>
          <a:solidFill>
            <a:srgbClr val="E9F1F4"/>
          </a:solidFill>
          <a:ln w="9525">
            <a:solidFill>
              <a:srgbClr val="E9F1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68312" y="41513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40" dirty="0">
                <a:solidFill>
                  <a:srgbClr val="007D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Обратите внимание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068312" y="4407408"/>
            <a:ext cx="41815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16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просто возвращает результат div — переписывать ошибку не нужно.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1809</Words>
  <Application>Microsoft Macintosh PowerPoint</Application>
  <PresentationFormat>Широкоэкранный</PresentationFormat>
  <Paragraphs>310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с нуля — Занятие 7</dc:title>
  <dc:subject>PptxGenJS Presentation</dc:subject>
  <dc:creator>Курс Go с нуля</dc:creator>
  <cp:lastModifiedBy>Rabboni Bafoev</cp:lastModifiedBy>
  <cp:revision>2</cp:revision>
  <dcterms:created xsi:type="dcterms:W3CDTF">2026-08-23T04:35:58Z</dcterms:created>
  <dcterms:modified xsi:type="dcterms:W3CDTF">2026-09-07T16:13:32Z</dcterms:modified>
</cp:coreProperties>
</file>