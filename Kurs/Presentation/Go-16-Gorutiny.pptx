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003"/>
    <p:restoredTop sz="94610"/>
  </p:normalViewPr>
  <p:slideViewPr>
    <p:cSldViewPr snapToGrid="0" snapToObjects="1">
      <p:cViewPr>
        <p:scale>
          <a:sx n="130" d="100"/>
          <a:sy n="130" d="100"/>
        </p:scale>
        <p:origin x="5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94250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4173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КУРС · GOLANG С НУЛЯ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1828800"/>
            <a:ext cx="694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Горутины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685800" y="315468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Главная особенность Go: тысячи параллельных задач без боли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04088" y="3886200"/>
            <a:ext cx="6400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Конкурентность и параллелизм — это разные вещи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Запуск горутины одним словом go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Планировщик Go, GOMAXPROCS и стоимость горутины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Гонки данных и детектор -race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549640" y="1783080"/>
            <a:ext cx="3200400" cy="3200400"/>
          </a:xfrm>
          <a:prstGeom prst="ellipse">
            <a:avLst/>
          </a:prstGeom>
          <a:solidFill>
            <a:srgbClr val="00ADD8"/>
          </a:solidFill>
          <a:ln/>
        </p:spPr>
      </p:sp>
      <p:sp>
        <p:nvSpPr>
          <p:cNvPr id="7" name="Text 5"/>
          <p:cNvSpPr/>
          <p:nvPr/>
        </p:nvSpPr>
        <p:spPr>
          <a:xfrm>
            <a:off x="8549640" y="228600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8800" dirty="0"/>
          </a:p>
        </p:txBody>
      </p:sp>
      <p:sp>
        <p:nvSpPr>
          <p:cNvPr id="8" name="Text 6"/>
          <p:cNvSpPr/>
          <p:nvPr/>
        </p:nvSpPr>
        <p:spPr>
          <a:xfrm>
            <a:off x="8549640" y="36576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ЗАНЯТИЕ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63276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16 — Горутины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МАРШРУТ ЗАНЯТИЯ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План на сегодня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1298448"/>
            <a:ext cx="887247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Тема, ради которой Go выбирают для высоконагруженных систем.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16 — Горутины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85800" y="1737360"/>
            <a:ext cx="2513000" cy="1828800"/>
          </a:xfrm>
          <a:prstGeom prst="roundRect">
            <a:avLst>
              <a:gd name="adj" fmla="val 3000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05256" y="195681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9" name="Text 7"/>
          <p:cNvSpPr/>
          <p:nvPr/>
        </p:nvSpPr>
        <p:spPr>
          <a:xfrm>
            <a:off x="905256" y="19568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344168" y="1952244"/>
            <a:ext cx="1635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Два понятия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905256" y="2395728"/>
            <a:ext cx="20740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Конкурентность против параллелизма на бытовом примере.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454832" y="1737360"/>
            <a:ext cx="2513000" cy="1828800"/>
          </a:xfrm>
          <a:prstGeom prst="roundRect">
            <a:avLst>
              <a:gd name="adj" fmla="val 3000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74288" y="195681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4" name="Text 12"/>
          <p:cNvSpPr/>
          <p:nvPr/>
        </p:nvSpPr>
        <p:spPr>
          <a:xfrm>
            <a:off x="3674288" y="19568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113200" y="1952244"/>
            <a:ext cx="1635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 func()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3674288" y="2395728"/>
            <a:ext cx="20740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Запуск, главная ловушка с main и стоимость горутины.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223864" y="1737360"/>
            <a:ext cx="2513000" cy="1828800"/>
          </a:xfrm>
          <a:prstGeom prst="roundRect">
            <a:avLst>
              <a:gd name="adj" fmla="val 3000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43320" y="195681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9" name="Text 17"/>
          <p:cNvSpPr/>
          <p:nvPr/>
        </p:nvSpPr>
        <p:spPr>
          <a:xfrm>
            <a:off x="6443320" y="19568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882232" y="1952244"/>
            <a:ext cx="1635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Планировщик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6443320" y="2395728"/>
            <a:ext cx="20740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G-P-M, GOMAXPROCS и как это работает на самом деле.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8992895" y="1737360"/>
            <a:ext cx="2513000" cy="1828800"/>
          </a:xfrm>
          <a:prstGeom prst="roundRect">
            <a:avLst>
              <a:gd name="adj" fmla="val 3000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212351" y="195681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24" name="Text 22"/>
          <p:cNvSpPr/>
          <p:nvPr/>
        </p:nvSpPr>
        <p:spPr>
          <a:xfrm>
            <a:off x="9212351" y="19568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651263" y="1952244"/>
            <a:ext cx="1635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Опасности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9212351" y="2395728"/>
            <a:ext cx="20740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Гонки данных, утечки горутин, детектор состязаний.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85800" y="4160520"/>
            <a:ext cx="10820095" cy="960120"/>
          </a:xfrm>
          <a:prstGeom prst="roundRect">
            <a:avLst>
              <a:gd name="adj" fmla="val 5714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41832" y="428853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Повторяем прошлое занятие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941832" y="4544568"/>
            <a:ext cx="10308031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48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os.ReadFile и WriteFile, потоковое чтение через bufio.Scanner и его лимит в 64 КБ, флаги OpenFile, defer Close и обязательный Flush.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85800" y="5440680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Главная мысль занятия: горутина — это не поток операционной системы. Она в тысячу раз дешевле.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ОСНОВА ОСНОВ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Конкурентность и параллелизм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16 — Горутины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1554480"/>
            <a:ext cx="5250028" cy="2743200"/>
          </a:xfrm>
          <a:prstGeom prst="roundRect">
            <a:avLst>
              <a:gd name="adj" fmla="val 2000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1832" y="1719072"/>
            <a:ext cx="47379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СТРУКТУРА ПРОГРАММЫ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941832" y="1956816"/>
            <a:ext cx="47379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Конкурентность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960120" y="2487168"/>
            <a:ext cx="470138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9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Задачи умеют чередоваться и не мешать друг другу</a:t>
            </a:r>
            <a:endParaRPr lang="en-US" sz="1300" dirty="0"/>
          </a:p>
          <a:p>
            <a:pPr marL="342900" indent="-342900">
              <a:lnSpc>
                <a:spcPts val="169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бариста принимает заказ, пока варится кофе</a:t>
            </a:r>
            <a:endParaRPr lang="en-US" sz="1300" dirty="0"/>
          </a:p>
          <a:p>
            <a:pPr marL="342900" indent="-342900">
              <a:lnSpc>
                <a:spcPts val="169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Работает даже на одном ядре</a:t>
            </a:r>
            <a:endParaRPr lang="en-US" sz="1300" dirty="0"/>
          </a:p>
          <a:p>
            <a:pPr marL="342900" indent="-342900">
              <a:lnSpc>
                <a:spcPts val="169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Это про то, КАК написан код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55868" y="1554480"/>
            <a:ext cx="5250028" cy="2743200"/>
          </a:xfrm>
          <a:prstGeom prst="roundRect">
            <a:avLst>
              <a:gd name="adj" fmla="val 2000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11900" y="1719072"/>
            <a:ext cx="47379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СПОСОБ ВЫПОЛНЕНИЯ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511900" y="1956816"/>
            <a:ext cx="47379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Параллелизм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6530188" y="2487168"/>
            <a:ext cx="470138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9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Задачи реально считаются одновременно</a:t>
            </a:r>
            <a:endParaRPr lang="en-US" sz="1300" dirty="0"/>
          </a:p>
          <a:p>
            <a:pPr marL="342900" indent="-342900">
              <a:lnSpc>
                <a:spcPts val="169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Два баристы за двумя кофемашинами</a:t>
            </a:r>
            <a:endParaRPr lang="en-US" sz="1300" dirty="0"/>
          </a:p>
          <a:p>
            <a:pPr marL="342900" indent="-342900">
              <a:lnSpc>
                <a:spcPts val="169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Нужно несколько ядер процессора</a:t>
            </a:r>
            <a:endParaRPr lang="en-US" sz="1300" dirty="0"/>
          </a:p>
          <a:p>
            <a:pPr marL="342900" indent="-342900">
              <a:lnSpc>
                <a:spcPts val="169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Это про то, КАК код исполняется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85800" y="4480560"/>
            <a:ext cx="10820095" cy="1234440"/>
          </a:xfrm>
          <a:prstGeom prst="roundRect">
            <a:avLst>
              <a:gd name="adj" fmla="val 4444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41832" y="460857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Формулировка Роба Пайка, одного из авторов Go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941832" y="4864608"/>
            <a:ext cx="10308031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48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«Конкурентность — это не параллелизм. Конкурентность — про то, как справляться с множеством дел сразу; параллелизм — про то, как делать много дел одновременно».</a:t>
            </a:r>
            <a:endParaRPr lang="en-US" sz="1400" dirty="0"/>
          </a:p>
          <a:p>
            <a:pPr marL="0" indent="0">
              <a:lnSpc>
                <a:spcPts val="1848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даёт вам инструменты конкурентности. Превратит ли рантайм её в настоящий параллелизм — зависит от числа ядер, и заботиться об этом обычно не нужно.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СИНТАКСИС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Запуск горутины: слово go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16 — Горутины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1554480"/>
            <a:ext cx="5943600" cy="2743200"/>
          </a:xfrm>
          <a:prstGeom prst="roundRect">
            <a:avLst>
              <a:gd name="adj" fmla="val 2000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627632"/>
            <a:ext cx="55412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ОДНО СЛОВО ПЕРЕД ВЫЗОВОМ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86968" y="1883664"/>
            <a:ext cx="554126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46"/>
              </a:lnSpc>
              <a:buNone/>
            </a:pPr>
            <a:r>
              <a:rPr lang="en-US" sz="13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say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 </a:t>
            </a:r>
            <a:r>
              <a:rPr lang="en-US" sz="130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fmt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main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3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say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"параллельно"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</a:t>
            </a:r>
            <a:r>
              <a:rPr lang="en-US" sz="130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в горутине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say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"обычно"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</a:t>
            </a:r>
            <a:r>
              <a:rPr lang="en-US" sz="130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как всегда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time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Sleep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Second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903720" y="1554480"/>
            <a:ext cx="4602175" cy="896112"/>
          </a:xfrm>
          <a:prstGeom prst="roundRect">
            <a:avLst>
              <a:gd name="adj" fmla="val 612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123176" y="177393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1" name="Text 9"/>
          <p:cNvSpPr/>
          <p:nvPr/>
        </p:nvSpPr>
        <p:spPr>
          <a:xfrm>
            <a:off x="7123176" y="17739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562088" y="1769364"/>
            <a:ext cx="372435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 запускает и сразу идёт дальше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123176" y="2103120"/>
            <a:ext cx="416326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Вызывающий код не ждёт завершения.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903720" y="2569464"/>
            <a:ext cx="4602175" cy="896112"/>
          </a:xfrm>
          <a:prstGeom prst="roundRect">
            <a:avLst>
              <a:gd name="adj" fmla="val 612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23176" y="2788920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6" name="Text 14"/>
          <p:cNvSpPr/>
          <p:nvPr/>
        </p:nvSpPr>
        <p:spPr>
          <a:xfrm>
            <a:off x="7123176" y="27889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562088" y="2784348"/>
            <a:ext cx="372435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Работает с любой функцией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123176" y="3118104"/>
            <a:ext cx="416326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Именованной, анонимной, методом — без разницы.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903720" y="3584448"/>
            <a:ext cx="4602175" cy="896112"/>
          </a:xfrm>
          <a:prstGeom prst="roundRect">
            <a:avLst>
              <a:gd name="adj" fmla="val 612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123176" y="3803904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21" name="Text 19"/>
          <p:cNvSpPr/>
          <p:nvPr/>
        </p:nvSpPr>
        <p:spPr>
          <a:xfrm>
            <a:off x="7123176" y="38039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562088" y="3799332"/>
            <a:ext cx="372435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Результат вернуть некуда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123176" y="4133088"/>
            <a:ext cx="416326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не даёт значения. Для этого нужны каналы.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85800" y="4526280"/>
            <a:ext cx="10820095" cy="1188720"/>
          </a:xfrm>
          <a:prstGeom prst="roundRect">
            <a:avLst>
              <a:gd name="adj" fmla="val 4615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41832" y="465429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 time.Sleep в примере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941832" y="4910328"/>
            <a:ext cx="10308031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48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Он здесь только чтобы программа не завершилась мгновенно. В настоящем коде так не синхронизируются: угадывать время работы задачи — плохая идея. На следующих занятиях мы заменим Sleep на WaitGroup и каналы.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ЛОВУШКА №1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 завершился — всё остановилось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16 — Горутины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1554480"/>
            <a:ext cx="5852160" cy="2194560"/>
          </a:xfrm>
          <a:prstGeom prst="roundRect">
            <a:avLst>
              <a:gd name="adj" fmla="val 2500"/>
            </a:avLst>
          </a:prstGeom>
          <a:solidFill>
            <a:srgbClr val="FDF3EF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627632"/>
            <a:ext cx="5449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НИЧЕГО НЕ НАПЕЧАТАЕТСЯ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86968" y="1883664"/>
            <a:ext cx="544982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75"/>
              </a:lnSpc>
              <a:buNone/>
            </a:pPr>
            <a:r>
              <a:rPr lang="en-US" sz="12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main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2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fmt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"привет из горутины"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программа завершилась раньше,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чем горутина успела стартовать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812280" y="1554480"/>
            <a:ext cx="4693615" cy="2194560"/>
          </a:xfrm>
          <a:prstGeom prst="roundRect">
            <a:avLst>
              <a:gd name="adj" fmla="val 2500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13448" y="1627632"/>
            <a:ext cx="429127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ПРАВИЛЬНО: ЖДЁМ ЯВНО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013448" y="1883664"/>
            <a:ext cx="4291279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75"/>
              </a:lnSpc>
              <a:buNone/>
            </a:pPr>
            <a:r>
              <a:rPr lang="en-US" sz="12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wg sync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WaitGroup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wg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2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defer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wg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Done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fmt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"привет"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}()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wg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Wait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85800" y="3840480"/>
            <a:ext cx="10820095" cy="1874520"/>
          </a:xfrm>
          <a:prstGeom prst="roundRect">
            <a:avLst>
              <a:gd name="adj" fmla="val 2927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41832" y="396849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Правило, которое надо запомнить сразу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941832" y="4224528"/>
            <a:ext cx="10308031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48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Когда функция main возвращает управление, программа завершается немедленно. Рантайм не ждёт горутины, не даёт им доработать и никак об этом не предупреждает — просто выход.</a:t>
            </a:r>
            <a:endParaRPr lang="en-US" sz="1400" dirty="0"/>
          </a:p>
          <a:p>
            <a:pPr marL="0" indent="0">
              <a:lnSpc>
                <a:spcPts val="1848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Поэтому за каждой запущенной горутиной должен стоять явный механизм ожидания. Подробно WaitGroup разберём на восемнадцатом занятии, а пока просто запомните: горутина без ожидания — это горутина, которая может не выполниться.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ЭТО ДЁШЕВО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Горутина против потока ОС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16 — Горутины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554480"/>
          <a:ext cx="10817352" cy="2286000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679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Характеристика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1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Поток ОС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1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Горутина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1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Начальный размер стека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от 1 до 8 МБ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около 2 КБ, растёт по мере надобности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Кто создаёт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ядро операционной системы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рантайм Go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Стоимость переключения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переход в режим ядра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несколько операций в пользовательском коде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Разумное количество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тысячи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сотни тысяч и миллионы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Shape 4"/>
          <p:cNvSpPr/>
          <p:nvPr/>
        </p:nvSpPr>
        <p:spPr>
          <a:xfrm>
            <a:off x="685800" y="3977640"/>
            <a:ext cx="5943600" cy="1417320"/>
          </a:xfrm>
          <a:prstGeom prst="roundRect">
            <a:avLst>
              <a:gd name="adj" fmla="val 3871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86968" y="4050792"/>
            <a:ext cx="55412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МИЛЛИОН ГОРУТИН — ЭТО НОРМАЛЬНО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886968" y="4306824"/>
            <a:ext cx="55412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75"/>
              </a:lnSpc>
              <a:buNone/>
            </a:pPr>
            <a:r>
              <a:rPr lang="en-US" sz="12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 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 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_000_000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++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2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worker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на потоках ОС такое просто не запустится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903720" y="3977640"/>
            <a:ext cx="4602175" cy="1417320"/>
          </a:xfrm>
          <a:prstGeom prst="roundRect">
            <a:avLst>
              <a:gd name="adj" fmla="val 3871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159752" y="410565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Отсюда и архитектура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7159752" y="4361688"/>
            <a:ext cx="4090111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16"/>
              </a:lnSpc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Веб-серверы на Go выделяют по горутине на каждый входящий запрос. В языках с потоками так делать нельзя — там строят пулы и очереди.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 КАПОТОМ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Планировщик Go: модель G-P-M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16 — Горутины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1600200"/>
            <a:ext cx="3423818" cy="1371600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05256" y="181965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8" name="Text 6"/>
          <p:cNvSpPr/>
          <p:nvPr/>
        </p:nvSpPr>
        <p:spPr>
          <a:xfrm>
            <a:off x="905256" y="18196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44168" y="1815084"/>
            <a:ext cx="254599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Goroutine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05256" y="2221992"/>
            <a:ext cx="298490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Ваша задача. Их могут быть сотни тысяч.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383938" y="1600200"/>
            <a:ext cx="3423818" cy="1371600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03394" y="181965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3" name="Text 11"/>
          <p:cNvSpPr/>
          <p:nvPr/>
        </p:nvSpPr>
        <p:spPr>
          <a:xfrm>
            <a:off x="4603394" y="18196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42306" y="1815084"/>
            <a:ext cx="254599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Processor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603394" y="2221992"/>
            <a:ext cx="298490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Логический контекст с очередью задач. Их ровно GOMAXPROCS.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082077" y="1600200"/>
            <a:ext cx="3423818" cy="1371600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01533" y="181965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8" name="Text 16"/>
          <p:cNvSpPr/>
          <p:nvPr/>
        </p:nvSpPr>
        <p:spPr>
          <a:xfrm>
            <a:off x="8301533" y="18196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740445" y="1815084"/>
            <a:ext cx="254599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301533" y="2221992"/>
            <a:ext cx="298490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Настоящий поток ОС. Выполняет G, получив P.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85800" y="3200400"/>
            <a:ext cx="10820095" cy="1371600"/>
          </a:xfrm>
          <a:prstGeom prst="roundRect">
            <a:avLst>
              <a:gd name="adj" fmla="val 4000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41832" y="332841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это работает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941832" y="3584448"/>
            <a:ext cx="10308031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82"/>
              </a:lnSpc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Рантайм раскладывает множество горутин по небольшому числу потоков ОС. Когда горутина упирается в ожидание — сетевой вызов, чтение файла, сон — планировщик снимает её и ставит на тот же поток другую задачу. Поток никогда не простаивает.</a:t>
            </a:r>
            <a:endParaRPr lang="en-US" sz="1350" dirty="0"/>
          </a:p>
          <a:p>
            <a:pPr marL="0" indent="0">
              <a:lnSpc>
                <a:spcPts val="1782"/>
              </a:lnSpc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у одного P закончились задачи, он забирает их из очереди соседа. Этот приём называется work stealing и обеспечивает равномерную загрузку ядер.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85800" y="4754880"/>
            <a:ext cx="10820095" cy="960120"/>
          </a:xfrm>
          <a:prstGeom prst="roundRect">
            <a:avLst>
              <a:gd name="adj" fmla="val 5714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41832" y="488289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это значит для вас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941832" y="5138928"/>
            <a:ext cx="10308031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48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Блокирующий сетевой вызов в горутине не блокирует поток: рантайм подменяет его асинхронной операцией. Поэтому в Go можно писать простой последовательный код и получать производительность асинхронного.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НАСТРОЙКА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GOMAXPROCS: сколько ядер задействовать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16 — Горутины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1554480"/>
            <a:ext cx="5943600" cy="2377440"/>
          </a:xfrm>
          <a:prstGeom prst="roundRect">
            <a:avLst>
              <a:gd name="adj" fmla="val 2308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627632"/>
            <a:ext cx="55412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СМОТРИМ И МЕНЯЕМ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86968" y="1883664"/>
            <a:ext cx="554126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fmt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runtime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NumCPU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())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125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ядер в системе: 8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fmt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runtime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GOMAXPROCS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25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текущее значение: 8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runtime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GOMAXPROCS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r>
              <a:rPr lang="en-US" sz="125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всё на одном ядре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конкурентность останется, параллелизм исчезнет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903720" y="1554480"/>
            <a:ext cx="4602175" cy="1051560"/>
          </a:xfrm>
          <a:prstGeom prst="roundRect">
            <a:avLst>
              <a:gd name="adj" fmla="val 5217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123176" y="177393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1" name="Text 9"/>
          <p:cNvSpPr/>
          <p:nvPr/>
        </p:nvSpPr>
        <p:spPr>
          <a:xfrm>
            <a:off x="7123176" y="17739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562088" y="1769364"/>
            <a:ext cx="372435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 умолчанию равно числу ядер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123176" y="2121408"/>
            <a:ext cx="416326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 версии 1.5 менять вручную почти никогда не нужно.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903720" y="2743200"/>
            <a:ext cx="4602175" cy="1051560"/>
          </a:xfrm>
          <a:prstGeom prst="roundRect">
            <a:avLst>
              <a:gd name="adj" fmla="val 5217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23176" y="296265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6" name="Text 14"/>
          <p:cNvSpPr/>
          <p:nvPr/>
        </p:nvSpPr>
        <p:spPr>
          <a:xfrm>
            <a:off x="7123176" y="29626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562088" y="2958084"/>
            <a:ext cx="372435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Ограничивает параллелизм, не число горутин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123176" y="3310128"/>
            <a:ext cx="416326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Миллион горутин при GOMAXPROCS(1) продолжит работать.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903720" y="3931920"/>
            <a:ext cx="4602175" cy="1051560"/>
          </a:xfrm>
          <a:prstGeom prst="roundRect">
            <a:avLst>
              <a:gd name="adj" fmla="val 5217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123176" y="415137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21" name="Text 19"/>
          <p:cNvSpPr/>
          <p:nvPr/>
        </p:nvSpPr>
        <p:spPr>
          <a:xfrm>
            <a:off x="7123176" y="41513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562088" y="4146804"/>
            <a:ext cx="372435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Важно в контейнерах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123176" y="4498848"/>
            <a:ext cx="416326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Рантайм видит ядра хоста, а не лимит контейнера.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85800" y="4114800"/>
            <a:ext cx="10820095" cy="1600200"/>
          </a:xfrm>
          <a:prstGeom prst="roundRect">
            <a:avLst>
              <a:gd name="adj" fmla="val 3429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41832" y="424281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Реальная история из практики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941832" y="4498848"/>
            <a:ext cx="10308031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82"/>
              </a:lnSpc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Сервис в Kubernetes с лимитом в 1 ядро на машине с 64 ядрами: Go выставляет GOMAXPROCS равным 64, создаёт 64 контекста и начинает молотить переключениями, которые оркестратор тут же душит троттлингом. Производительность падает в разы.</a:t>
            </a:r>
            <a:endParaRPr lang="en-US" sz="1350" dirty="0"/>
          </a:p>
          <a:p>
            <a:pPr marL="0" indent="0">
              <a:lnSpc>
                <a:spcPts val="1782"/>
              </a:lnSpc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Лечится либо переменной окружения GOMAXPROCS, либо библиотекой automaxprocs, которая читает лимиты cgroup. В Go 1.25 рантайм научился делать это сам, но проверять стоит.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ОПАСНОСТЬ №1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Гонка данных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16 — Горутины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1508760"/>
            <a:ext cx="6035040" cy="2743200"/>
          </a:xfrm>
          <a:prstGeom prst="roundRect">
            <a:avLst>
              <a:gd name="adj" fmla="val 2000"/>
            </a:avLst>
          </a:prstGeom>
          <a:solidFill>
            <a:srgbClr val="FDF3EF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581912"/>
            <a:ext cx="56327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СЧЁТЧИК, КОТОРЫЙ СЧИТАЕТ НЕВЕРНО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86968" y="1837944"/>
            <a:ext cx="563270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counter 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 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 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1000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++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2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counter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++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125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одновременно из тысячи горутин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}()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Sleep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Second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fmt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counter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r>
              <a:rPr lang="en-US" sz="125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973? 991? каждый раз по-разному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995160" y="1508760"/>
            <a:ext cx="4510735" cy="1051560"/>
          </a:xfrm>
          <a:prstGeom prst="roundRect">
            <a:avLst>
              <a:gd name="adj" fmla="val 5217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214616" y="1728216"/>
            <a:ext cx="310896" cy="310896"/>
          </a:xfrm>
          <a:prstGeom prst="ellipse">
            <a:avLst/>
          </a:prstGeom>
          <a:solidFill>
            <a:srgbClr val="9B4A1F"/>
          </a:solidFill>
          <a:ln/>
        </p:spPr>
      </p:sp>
      <p:sp>
        <p:nvSpPr>
          <p:cNvPr id="11" name="Text 9"/>
          <p:cNvSpPr/>
          <p:nvPr/>
        </p:nvSpPr>
        <p:spPr>
          <a:xfrm>
            <a:off x="7214616" y="17282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653528" y="1723644"/>
            <a:ext cx="363291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counter++ — это три операции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214616" y="2075688"/>
            <a:ext cx="407182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Прочитать, прибавить, записать. Между ними может вклиниться другая горутина.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995160" y="2697480"/>
            <a:ext cx="4510735" cy="1051560"/>
          </a:xfrm>
          <a:prstGeom prst="roundRect">
            <a:avLst>
              <a:gd name="adj" fmla="val 5217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214616" y="2916936"/>
            <a:ext cx="310896" cy="310896"/>
          </a:xfrm>
          <a:prstGeom prst="ellipse">
            <a:avLst/>
          </a:prstGeom>
          <a:solidFill>
            <a:srgbClr val="9B4A1F"/>
          </a:solidFill>
          <a:ln/>
        </p:spPr>
      </p:sp>
      <p:sp>
        <p:nvSpPr>
          <p:cNvPr id="16" name="Text 14"/>
          <p:cNvSpPr/>
          <p:nvPr/>
        </p:nvSpPr>
        <p:spPr>
          <a:xfrm>
            <a:off x="7214616" y="29169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653528" y="2912364"/>
            <a:ext cx="363291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Результат непредсказуем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214616" y="3264408"/>
            <a:ext cx="407182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Программа может годами работать и однажды сломаться.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995160" y="3886200"/>
            <a:ext cx="4510735" cy="1051560"/>
          </a:xfrm>
          <a:prstGeom prst="roundRect">
            <a:avLst>
              <a:gd name="adj" fmla="val 5217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14616" y="4105656"/>
            <a:ext cx="310896" cy="310896"/>
          </a:xfrm>
          <a:prstGeom prst="ellipse">
            <a:avLst/>
          </a:prstGeom>
          <a:solidFill>
            <a:srgbClr val="9B4A1F"/>
          </a:solidFill>
          <a:ln/>
        </p:spPr>
      </p:sp>
      <p:sp>
        <p:nvSpPr>
          <p:cNvPr id="21" name="Text 19"/>
          <p:cNvSpPr/>
          <p:nvPr/>
        </p:nvSpPr>
        <p:spPr>
          <a:xfrm>
            <a:off x="7214616" y="41056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653528" y="4101084"/>
            <a:ext cx="363291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Компилятор не поможет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214616" y="4453128"/>
            <a:ext cx="407182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Синтаксически код совершенно корректен.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85800" y="4526280"/>
            <a:ext cx="10820095" cy="1188720"/>
          </a:xfrm>
          <a:prstGeom prst="roundRect">
            <a:avLst>
              <a:gd name="adj" fmla="val 4615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41832" y="465429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Определение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941832" y="4910328"/>
            <a:ext cx="10308031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48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Гонка данных возникает, когда две горутины обращаются к одной переменной, хотя бы одна из них пишет, и нет никакой синхронизации. Это самый коварный класс ошибок: он проявляется редко, зависит от нагрузки и почти не воспроизводится в отладчике.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ИНСТРУМЕНТ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Детектор состязаний: флаг -race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16 — Горутины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1554480"/>
            <a:ext cx="5852160" cy="2286000"/>
          </a:xfrm>
          <a:prstGeom prst="roundRect">
            <a:avLst>
              <a:gd name="adj" fmla="val 2400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627632"/>
            <a:ext cx="5449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ЗАПУСК С ПРОВЕРКОЙ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86968" y="1883664"/>
            <a:ext cx="5449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75"/>
              </a:lnSpc>
              <a:buNone/>
            </a:pPr>
            <a:r>
              <a:rPr lang="en-US" sz="12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run 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race main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test 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race 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./...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build 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race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WARNING: DATA RACE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Write at 0x00c000018030 by goroutine 7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Previous read by goroutine 6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812280" y="1554480"/>
            <a:ext cx="4693615" cy="841248"/>
          </a:xfrm>
          <a:prstGeom prst="roundRect">
            <a:avLst>
              <a:gd name="adj" fmla="val 652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031736" y="177393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1" name="Text 9"/>
          <p:cNvSpPr/>
          <p:nvPr/>
        </p:nvSpPr>
        <p:spPr>
          <a:xfrm>
            <a:off x="7031736" y="17739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470648" y="1769364"/>
            <a:ext cx="3815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Находит настоящие гонки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031736" y="2103120"/>
            <a:ext cx="425470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догадки, а факты: показывает обе строки кода.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812280" y="2514600"/>
            <a:ext cx="4693615" cy="841248"/>
          </a:xfrm>
          <a:prstGeom prst="roundRect">
            <a:avLst>
              <a:gd name="adj" fmla="val 652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031736" y="273405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6" name="Text 14"/>
          <p:cNvSpPr/>
          <p:nvPr/>
        </p:nvSpPr>
        <p:spPr>
          <a:xfrm>
            <a:off x="7031736" y="27340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470648" y="2729484"/>
            <a:ext cx="3815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Замедляет программу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031736" y="3063240"/>
            <a:ext cx="425470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2–20 раз и требует больше памяти.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812280" y="3474720"/>
            <a:ext cx="4693615" cy="841248"/>
          </a:xfrm>
          <a:prstGeom prst="roundRect">
            <a:avLst>
              <a:gd name="adj" fmla="val 652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031736" y="369417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21" name="Text 19"/>
          <p:cNvSpPr/>
          <p:nvPr/>
        </p:nvSpPr>
        <p:spPr>
          <a:xfrm>
            <a:off x="7031736" y="36941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470648" y="3689604"/>
            <a:ext cx="3815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Только для тестов и отладки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031736" y="4023360"/>
            <a:ext cx="425470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продакшен собирают без этого флага.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85800" y="4023360"/>
            <a:ext cx="10820095" cy="1691640"/>
          </a:xfrm>
          <a:prstGeom prst="roundRect">
            <a:avLst>
              <a:gd name="adj" fmla="val 3243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41832" y="415137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это использовать в работе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941832" y="4407408"/>
            <a:ext cx="10308031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48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Детектор находит только те гонки, которые реально случились во время запуска. Если тест не задействовал проблемный путь, предупреждения не будет — отсутствие сообщений не доказывает, что гонок нет.</a:t>
            </a:r>
            <a:endParaRPr lang="en-US" sz="1400" dirty="0"/>
          </a:p>
          <a:p>
            <a:pPr marL="0" indent="0">
              <a:lnSpc>
                <a:spcPts val="1848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Поэтому в командах принято гонять весь набор тестов с флагом -race в непрерывной интеграции. Это дешёвая привычка, которая экономит недели отладки странных сбоев на проде.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РЕШЕНИЯ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Как избавиться от гонки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16 — Горутины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1554480"/>
            <a:ext cx="5212080" cy="2377440"/>
          </a:xfrm>
          <a:prstGeom prst="roundRect">
            <a:avLst>
              <a:gd name="adj" fmla="val 2308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627632"/>
            <a:ext cx="4809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МЬЮТЕКС: ЗАКРЫВАЕМ ДОСТУП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86968" y="1883664"/>
            <a:ext cx="480974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4"/>
              </a:lnSpc>
              <a:buNone/>
            </a:pPr>
            <a:r>
              <a:rPr lang="en-US" sz="12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mu sync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Mutex</a:t>
            </a:r>
            <a:endParaRPr lang="en-US" sz="1200" dirty="0"/>
          </a:p>
          <a:p>
            <a:pPr marL="0" indent="0">
              <a:lnSpc>
                <a:spcPts val="1704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marL="0" indent="0">
              <a:lnSpc>
                <a:spcPts val="1704"/>
              </a:lnSpc>
              <a:buNone/>
            </a:pP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Lock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endParaRPr lang="en-US" sz="1200" dirty="0"/>
          </a:p>
          <a:p>
            <a:pPr marL="0" indent="0">
              <a:lnSpc>
                <a:spcPts val="1704"/>
              </a:lnSpc>
              <a:buNone/>
            </a:pP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counter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++</a:t>
            </a:r>
            <a:endParaRPr lang="en-US" sz="1200" dirty="0"/>
          </a:p>
          <a:p>
            <a:pPr marL="0" indent="0">
              <a:lnSpc>
                <a:spcPts val="1704"/>
              </a:lnSpc>
              <a:buNone/>
            </a:pP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Unlock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72200" y="1554480"/>
            <a:ext cx="5303520" cy="2377440"/>
          </a:xfrm>
          <a:prstGeom prst="roundRect">
            <a:avLst>
              <a:gd name="adj" fmla="val 2308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73368" y="1627632"/>
            <a:ext cx="4901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АТОМАРНАЯ ОПЕРАЦИЯ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373368" y="1883664"/>
            <a:ext cx="4901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4"/>
              </a:lnSpc>
              <a:buNone/>
            </a:pPr>
            <a:r>
              <a:rPr lang="en-US" sz="12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counter </a:t>
            </a:r>
            <a:r>
              <a:rPr lang="en-US" sz="120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int64</a:t>
            </a:r>
            <a:endParaRPr lang="en-US" sz="1200" dirty="0"/>
          </a:p>
          <a:p>
            <a:pPr marL="0" indent="0">
              <a:lnSpc>
                <a:spcPts val="1704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marL="0" indent="0">
              <a:lnSpc>
                <a:spcPts val="1704"/>
              </a:lnSpc>
              <a:buNone/>
            </a:pP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atomic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AddInt64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(&amp;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counter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  <a:p>
            <a:pPr marL="0" indent="0">
              <a:lnSpc>
                <a:spcPts val="1704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marL="0" indent="0">
              <a:lnSpc>
                <a:spcPts val="1704"/>
              </a:lnSpc>
              <a:buNone/>
            </a:pPr>
            <a:r>
              <a:rPr lang="en-US" sz="120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одна неделимая инструкция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85800" y="4114800"/>
            <a:ext cx="10820095" cy="1600200"/>
          </a:xfrm>
          <a:prstGeom prst="roundRect">
            <a:avLst>
              <a:gd name="adj" fmla="val 3429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41832" y="424281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Третий путь — самый в духе Go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941832" y="4498848"/>
            <a:ext cx="10308031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48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«Не общайтесь через разделяемую память — делите память через общение». Вместо того чтобы защищать общую переменную замками, передавайте данные между горутинами по каналам: тогда в каждый момент времени с данными работает ровно один владелец, и защищать нечего.</a:t>
            </a:r>
            <a:endParaRPr lang="en-US" sz="1400" dirty="0"/>
          </a:p>
          <a:p>
            <a:pPr marL="0" indent="0">
              <a:lnSpc>
                <a:spcPts val="1848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Каналы — тема следующего занятия. Мьютексы при этом никуда не деваются: для простого счётчика или кеша они проще и быстрее канала.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ОПАСНОСТЬ №2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Утечка горутин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16 — Горутины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1554480"/>
            <a:ext cx="5852160" cy="2194560"/>
          </a:xfrm>
          <a:prstGeom prst="roundRect">
            <a:avLst>
              <a:gd name="adj" fmla="val 2500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627632"/>
            <a:ext cx="5449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ГОРУТИНА, КОТОРАЯ НИКОГДА НЕ ЗАВЕРШИТСЯ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86968" y="1883664"/>
            <a:ext cx="544982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4"/>
              </a:lnSpc>
              <a:buNone/>
            </a:pPr>
            <a:r>
              <a:rPr lang="en-US" sz="12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leak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marL="0" indent="0">
              <a:lnSpc>
                <a:spcPts val="1704"/>
              </a:lnSpc>
              <a:buNone/>
            </a:pP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ch 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make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chan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  <a:p>
            <a:pPr marL="0" indent="0">
              <a:lnSpc>
                <a:spcPts val="1704"/>
              </a:lnSpc>
              <a:buNone/>
            </a:pP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2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marL="0" indent="0">
              <a:lnSpc>
                <a:spcPts val="1704"/>
              </a:lnSpc>
              <a:buNone/>
            </a:pP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ch 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&lt;-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42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120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некому прочитать</a:t>
            </a:r>
            <a:endParaRPr lang="en-US" sz="1200" dirty="0"/>
          </a:p>
          <a:p>
            <a:pPr marL="0" indent="0">
              <a:lnSpc>
                <a:spcPts val="1704"/>
              </a:lnSpc>
              <a:buNone/>
            </a:pP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}()</a:t>
            </a:r>
            <a:endParaRPr lang="en-US" sz="1200" dirty="0"/>
          </a:p>
          <a:p>
            <a:pPr marL="0" indent="0">
              <a:lnSpc>
                <a:spcPts val="1704"/>
              </a:lnSpc>
              <a:buNone/>
            </a:pP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20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функция вышла, горутина висит навсегда</a:t>
            </a:r>
            <a:endParaRPr lang="en-US" sz="1200" dirty="0"/>
          </a:p>
          <a:p>
            <a:pPr marL="0" indent="0">
              <a:lnSpc>
                <a:spcPts val="1704"/>
              </a:lnSpc>
              <a:buNone/>
            </a:pP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812280" y="1554480"/>
            <a:ext cx="4693615" cy="841248"/>
          </a:xfrm>
          <a:prstGeom prst="roundRect">
            <a:avLst>
              <a:gd name="adj" fmla="val 652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031736" y="1773936"/>
            <a:ext cx="310896" cy="310896"/>
          </a:xfrm>
          <a:prstGeom prst="ellipse">
            <a:avLst/>
          </a:prstGeom>
          <a:solidFill>
            <a:srgbClr val="9B4A1F"/>
          </a:solidFill>
          <a:ln/>
        </p:spPr>
      </p:sp>
      <p:sp>
        <p:nvSpPr>
          <p:cNvPr id="11" name="Text 9"/>
          <p:cNvSpPr/>
          <p:nvPr/>
        </p:nvSpPr>
        <p:spPr>
          <a:xfrm>
            <a:off x="7031736" y="17739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470648" y="1769364"/>
            <a:ext cx="3815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Горутину нельзя убить снаружи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031736" y="2103120"/>
            <a:ext cx="425470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 функции kill: она завершается только сама.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812280" y="2514600"/>
            <a:ext cx="4693615" cy="841248"/>
          </a:xfrm>
          <a:prstGeom prst="roundRect">
            <a:avLst>
              <a:gd name="adj" fmla="val 652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031736" y="2734056"/>
            <a:ext cx="310896" cy="310896"/>
          </a:xfrm>
          <a:prstGeom prst="ellipse">
            <a:avLst/>
          </a:prstGeom>
          <a:solidFill>
            <a:srgbClr val="9B4A1F"/>
          </a:solidFill>
          <a:ln/>
        </p:spPr>
      </p:sp>
      <p:sp>
        <p:nvSpPr>
          <p:cNvPr id="16" name="Text 14"/>
          <p:cNvSpPr/>
          <p:nvPr/>
        </p:nvSpPr>
        <p:spPr>
          <a:xfrm>
            <a:off x="7031736" y="27340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470648" y="2729484"/>
            <a:ext cx="3815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Память не освобождается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031736" y="3063240"/>
            <a:ext cx="425470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Стек и захваченные переменные остаются занятыми.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812280" y="3474720"/>
            <a:ext cx="4693615" cy="841248"/>
          </a:xfrm>
          <a:prstGeom prst="roundRect">
            <a:avLst>
              <a:gd name="adj" fmla="val 652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031736" y="3694176"/>
            <a:ext cx="310896" cy="310896"/>
          </a:xfrm>
          <a:prstGeom prst="ellipse">
            <a:avLst/>
          </a:prstGeom>
          <a:solidFill>
            <a:srgbClr val="9B4A1F"/>
          </a:solidFill>
          <a:ln/>
        </p:spPr>
      </p:sp>
      <p:sp>
        <p:nvSpPr>
          <p:cNvPr id="21" name="Text 19"/>
          <p:cNvSpPr/>
          <p:nvPr/>
        </p:nvSpPr>
        <p:spPr>
          <a:xfrm>
            <a:off x="7031736" y="36941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470648" y="3689604"/>
            <a:ext cx="3815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Проверяем счётчиком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031736" y="4023360"/>
            <a:ext cx="425470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runtime.NumGoroutine() растёт и не падает — есть утечка.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85800" y="4372503"/>
            <a:ext cx="10820095" cy="1783080"/>
          </a:xfrm>
          <a:prstGeom prst="roundRect">
            <a:avLst>
              <a:gd name="adj" fmla="val 3077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41832" y="405993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это опаснее, чем кажется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941832" y="4315968"/>
            <a:ext cx="10308031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82"/>
              </a:lnSpc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Сервис работает неделю, каждый запрос оставляет одну зависшую горутину — и в понедельник процесс съедает всю память сервера. Классический сценарий инцидента.</a:t>
            </a:r>
            <a:endParaRPr lang="en-US" sz="1350" dirty="0"/>
          </a:p>
          <a:p>
            <a:pPr marL="0" indent="0">
              <a:lnSpc>
                <a:spcPts val="1782"/>
              </a:lnSpc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Правило: запуская горутину, сразу ответьте себе на вопрос — при каких условиях она завершится? Если ответа нет, у вас будущая утечка. Стандартный инструмент для управляемой остановки — пакет context, но до него в базовом курсе мы не дойдём.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ПРАКТИКА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Задача: параллельная обработка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1298448"/>
            <a:ext cx="887247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Сравним последовательное и конкурентное выполнение на замерах времени.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16 — Горутины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85800" y="1920240"/>
            <a:ext cx="5852160" cy="2880360"/>
          </a:xfrm>
          <a:prstGeom prst="roundRect">
            <a:avLst>
              <a:gd name="adj" fmla="val 1905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1832" y="2103120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2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НУЖНО СДЕЛАТЬ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960120" y="2423160"/>
            <a:ext cx="5303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755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Функция worker, которая работает одну секунду</a:t>
            </a:r>
            <a:endParaRPr lang="en-US" sz="1350" dirty="0"/>
          </a:p>
          <a:p>
            <a:pPr marL="342900" indent="-342900">
              <a:lnSpc>
                <a:spcPts val="1755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Запустить пять таких задач последовательно</a:t>
            </a:r>
            <a:endParaRPr lang="en-US" sz="1350" dirty="0"/>
          </a:p>
          <a:p>
            <a:pPr marL="342900" indent="-342900">
              <a:lnSpc>
                <a:spcPts val="1755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Запустить те же пять в горутинах</a:t>
            </a:r>
            <a:endParaRPr lang="en-US" sz="1350" dirty="0"/>
          </a:p>
          <a:p>
            <a:pPr marL="342900" indent="-342900">
              <a:lnSpc>
                <a:spcPts val="1755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Замерить время обоих вариантов</a:t>
            </a:r>
            <a:endParaRPr lang="en-US" sz="1350" dirty="0"/>
          </a:p>
          <a:p>
            <a:pPr marL="342900" indent="-342900">
              <a:lnSpc>
                <a:spcPts val="1755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Добавить корректное ожидание завершения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812280" y="1920240"/>
            <a:ext cx="4693615" cy="713232"/>
          </a:xfrm>
          <a:prstGeom prst="roundRect">
            <a:avLst>
              <a:gd name="adj" fmla="val 769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031736" y="213969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2" name="Text 10"/>
          <p:cNvSpPr/>
          <p:nvPr/>
        </p:nvSpPr>
        <p:spPr>
          <a:xfrm>
            <a:off x="7031736" y="21396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470648" y="2135124"/>
            <a:ext cx="3815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time.Now()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031736" y="2414016"/>
            <a:ext cx="4254703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0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Засекаем старт.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812280" y="2724912"/>
            <a:ext cx="4693615" cy="713232"/>
          </a:xfrm>
          <a:prstGeom prst="roundRect">
            <a:avLst>
              <a:gd name="adj" fmla="val 769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031736" y="2944368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7" name="Text 15"/>
          <p:cNvSpPr/>
          <p:nvPr/>
        </p:nvSpPr>
        <p:spPr>
          <a:xfrm>
            <a:off x="7031736" y="2944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470648" y="2939796"/>
            <a:ext cx="3815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sync.WaitGroup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031736" y="3218688"/>
            <a:ext cx="4254703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0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до запуска, Done через defer.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812280" y="3529584"/>
            <a:ext cx="4693615" cy="713232"/>
          </a:xfrm>
          <a:prstGeom prst="roundRect">
            <a:avLst>
              <a:gd name="adj" fmla="val 769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031736" y="3749040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22" name="Text 20"/>
          <p:cNvSpPr/>
          <p:nvPr/>
        </p:nvSpPr>
        <p:spPr>
          <a:xfrm>
            <a:off x="7031736" y="37490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470648" y="3744468"/>
            <a:ext cx="3815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wg.Wait()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7031736" y="4023360"/>
            <a:ext cx="4254703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0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Ждём все горутины.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812280" y="4334256"/>
            <a:ext cx="4693615" cy="713232"/>
          </a:xfrm>
          <a:prstGeom prst="roundRect">
            <a:avLst>
              <a:gd name="adj" fmla="val 769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031736" y="4553712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27" name="Text 25"/>
          <p:cNvSpPr/>
          <p:nvPr/>
        </p:nvSpPr>
        <p:spPr>
          <a:xfrm>
            <a:off x="7031736" y="45537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470648" y="4549140"/>
            <a:ext cx="3815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time.Since(start)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7031736" y="4828032"/>
            <a:ext cx="4254703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0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Печатаем разницу.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85800" y="5230368"/>
            <a:ext cx="10820095" cy="777240"/>
          </a:xfrm>
          <a:prstGeom prst="roundRect">
            <a:avLst>
              <a:gd name="adj" fmla="val 7059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41832" y="5358384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Ожидаемый результат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941832" y="5614416"/>
            <a:ext cx="10308031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82"/>
              </a:lnSpc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Последовательно — около пяти секунд. Конкурентно — чуть больше одной.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РАЗБОР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Решение: последовательно и конкурентно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16 — Горутины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1463040"/>
            <a:ext cx="5349240" cy="3154680"/>
          </a:xfrm>
          <a:prstGeom prst="roundRect">
            <a:avLst>
              <a:gd name="adj" fmla="val 1739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536192"/>
            <a:ext cx="4946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ПОСЛЕДОВАТЕЛЬНО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86968" y="1792224"/>
            <a:ext cx="4946904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33"/>
              </a:lnSpc>
              <a:buNone/>
            </a:pPr>
            <a:r>
              <a:rPr lang="en-US" sz="11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worker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</a:t>
            </a:r>
            <a:r>
              <a:rPr lang="en-US" sz="115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50" dirty="0"/>
          </a:p>
          <a:p>
            <a:pPr marL="0" indent="0">
              <a:lnSpc>
                <a:spcPts val="1633"/>
              </a:lnSpc>
              <a:buNone/>
            </a:pP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time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Sleep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Second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50" dirty="0"/>
          </a:p>
          <a:p>
            <a:pPr marL="0" indent="0">
              <a:lnSpc>
                <a:spcPts val="1633"/>
              </a:lnSpc>
              <a:buNone/>
            </a:pP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fmt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1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"задача %d готова\n"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id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50" dirty="0"/>
          </a:p>
          <a:p>
            <a:pPr marL="0" indent="0">
              <a:lnSpc>
                <a:spcPts val="1633"/>
              </a:lnSpc>
              <a:buNone/>
            </a:pP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  <a:p>
            <a:pPr marL="0" indent="0">
              <a:lnSpc>
                <a:spcPts val="1633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marL="0" indent="0">
              <a:lnSpc>
                <a:spcPts val="1633"/>
              </a:lnSpc>
              <a:buNone/>
            </a:pP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 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time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Now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endParaRPr lang="en-US" sz="1150" dirty="0"/>
          </a:p>
          <a:p>
            <a:pPr marL="0" indent="0">
              <a:lnSpc>
                <a:spcPts val="1633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marL="0" indent="0">
              <a:lnSpc>
                <a:spcPts val="1633"/>
              </a:lnSpc>
              <a:buNone/>
            </a:pPr>
            <a:r>
              <a:rPr lang="en-US" sz="11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 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 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&lt;=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++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50" dirty="0"/>
          </a:p>
          <a:p>
            <a:pPr marL="0" indent="0">
              <a:lnSpc>
                <a:spcPts val="1633"/>
              </a:lnSpc>
              <a:buNone/>
            </a:pP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worker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50" dirty="0"/>
          </a:p>
          <a:p>
            <a:pPr marL="0" indent="0">
              <a:lnSpc>
                <a:spcPts val="1633"/>
              </a:lnSpc>
              <a:buNone/>
            </a:pP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  <a:p>
            <a:pPr marL="0" indent="0">
              <a:lnSpc>
                <a:spcPts val="1633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marL="0" indent="0">
              <a:lnSpc>
                <a:spcPts val="1633"/>
              </a:lnSpc>
              <a:buNone/>
            </a:pP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fmt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1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"итого:"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time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Since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</a:t>
            </a:r>
            <a:endParaRPr lang="en-US" sz="1150" dirty="0"/>
          </a:p>
          <a:p>
            <a:pPr marL="0" indent="0">
              <a:lnSpc>
                <a:spcPts val="1633"/>
              </a:lnSpc>
              <a:buNone/>
            </a:pPr>
            <a:r>
              <a:rPr lang="en-US" sz="115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итого: 5.003s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309360" y="1463040"/>
            <a:ext cx="5196535" cy="3154680"/>
          </a:xfrm>
          <a:prstGeom prst="roundRect">
            <a:avLst>
              <a:gd name="adj" fmla="val 1739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10528" y="1536192"/>
            <a:ext cx="479419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КОНКУРЕНТНО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510528" y="1792224"/>
            <a:ext cx="4794199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62"/>
              </a:lnSpc>
              <a:buNone/>
            </a:pPr>
            <a:r>
              <a:rPr lang="en-US" sz="11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 </a:t>
            </a:r>
            <a:r>
              <a:rPr lang="en-US" sz="11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1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time</a:t>
            </a:r>
            <a:r>
              <a:rPr lang="en-US" sz="11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1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Now</a:t>
            </a:r>
            <a:r>
              <a:rPr lang="en-US" sz="11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endParaRPr lang="en-US" sz="1100" dirty="0"/>
          </a:p>
          <a:p>
            <a:pPr marL="0" indent="0">
              <a:lnSpc>
                <a:spcPts val="1562"/>
              </a:lnSpc>
              <a:buNone/>
            </a:pPr>
            <a:r>
              <a:rPr lang="en-US" sz="11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</a:t>
            </a:r>
            <a:r>
              <a:rPr lang="en-US" sz="11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wg sync</a:t>
            </a:r>
            <a:r>
              <a:rPr lang="en-US" sz="11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1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WaitGroup</a:t>
            </a:r>
            <a:endParaRPr lang="en-US" sz="1100" dirty="0"/>
          </a:p>
          <a:p>
            <a:pPr marL="0" indent="0">
              <a:lnSpc>
                <a:spcPts val="1562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marL="0" indent="0">
              <a:lnSpc>
                <a:spcPts val="1562"/>
              </a:lnSpc>
              <a:buNone/>
            </a:pPr>
            <a:r>
              <a:rPr lang="en-US" sz="11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11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 </a:t>
            </a:r>
            <a:r>
              <a:rPr lang="en-US" sz="11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1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1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r>
              <a:rPr lang="en-US" sz="11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 </a:t>
            </a:r>
            <a:r>
              <a:rPr lang="en-US" sz="11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&lt;=</a:t>
            </a:r>
            <a:r>
              <a:rPr lang="en-US" sz="11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r>
              <a:rPr lang="en-US" sz="11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r>
              <a:rPr lang="en-US" sz="11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</a:t>
            </a:r>
            <a:r>
              <a:rPr lang="en-US" sz="11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++</a:t>
            </a:r>
            <a:r>
              <a:rPr lang="en-US" sz="11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marL="0" indent="0">
              <a:lnSpc>
                <a:spcPts val="1562"/>
              </a:lnSpc>
              <a:buNone/>
            </a:pPr>
            <a:r>
              <a:rPr lang="en-US" sz="11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wg</a:t>
            </a:r>
            <a:r>
              <a:rPr lang="en-US" sz="11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1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</a:t>
            </a:r>
            <a:r>
              <a:rPr lang="en-US" sz="11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1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1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  <a:p>
            <a:pPr marL="0" indent="0">
              <a:lnSpc>
                <a:spcPts val="1562"/>
              </a:lnSpc>
              <a:buNone/>
            </a:pPr>
            <a:r>
              <a:rPr lang="en-US" sz="11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</a:t>
            </a:r>
            <a:r>
              <a:rPr lang="en-US" sz="11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</a:t>
            </a:r>
            <a:r>
              <a:rPr lang="en-US" sz="11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1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</a:t>
            </a:r>
            <a:r>
              <a:rPr lang="en-US" sz="110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1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1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marL="0" indent="0">
              <a:lnSpc>
                <a:spcPts val="1562"/>
              </a:lnSpc>
              <a:buNone/>
            </a:pPr>
            <a:r>
              <a:rPr lang="en-US" sz="11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1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defer</a:t>
            </a:r>
            <a:r>
              <a:rPr lang="en-US" sz="11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wg</a:t>
            </a:r>
            <a:r>
              <a:rPr lang="en-US" sz="11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1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Done</a:t>
            </a:r>
            <a:r>
              <a:rPr lang="en-US" sz="11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endParaRPr lang="en-US" sz="1100" dirty="0"/>
          </a:p>
          <a:p>
            <a:pPr marL="0" indent="0">
              <a:lnSpc>
                <a:spcPts val="1562"/>
              </a:lnSpc>
              <a:buNone/>
            </a:pPr>
            <a:r>
              <a:rPr lang="en-US" sz="11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worker</a:t>
            </a:r>
            <a:r>
              <a:rPr lang="en-US" sz="11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1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r>
              <a:rPr lang="en-US" sz="11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  <a:p>
            <a:pPr marL="0" indent="0">
              <a:lnSpc>
                <a:spcPts val="1562"/>
              </a:lnSpc>
              <a:buNone/>
            </a:pPr>
            <a:r>
              <a:rPr lang="en-US" sz="11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}(</a:t>
            </a:r>
            <a:r>
              <a:rPr lang="en-US" sz="11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r>
              <a:rPr lang="en-US" sz="11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  <a:p>
            <a:pPr marL="0" indent="0">
              <a:lnSpc>
                <a:spcPts val="1562"/>
              </a:lnSpc>
              <a:buNone/>
            </a:pPr>
            <a:r>
              <a:rPr lang="en-US" sz="11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marL="0" indent="0">
              <a:lnSpc>
                <a:spcPts val="1562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marL="0" indent="0">
              <a:lnSpc>
                <a:spcPts val="1562"/>
              </a:lnSpc>
              <a:buNone/>
            </a:pPr>
            <a:r>
              <a:rPr lang="en-US" sz="11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wg</a:t>
            </a:r>
            <a:r>
              <a:rPr lang="en-US" sz="11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1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Wait</a:t>
            </a:r>
            <a:r>
              <a:rPr lang="en-US" sz="11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endParaRPr lang="en-US" sz="1100" dirty="0"/>
          </a:p>
          <a:p>
            <a:pPr marL="0" indent="0">
              <a:lnSpc>
                <a:spcPts val="1562"/>
              </a:lnSpc>
              <a:buNone/>
            </a:pPr>
            <a:r>
              <a:rPr lang="en-US" sz="11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fmt</a:t>
            </a:r>
            <a:r>
              <a:rPr lang="en-US" sz="11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1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r>
              <a:rPr lang="en-US" sz="11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1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"итого:"</a:t>
            </a:r>
            <a:r>
              <a:rPr lang="en-US" sz="11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1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time</a:t>
            </a:r>
            <a:r>
              <a:rPr lang="en-US" sz="11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1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Since</a:t>
            </a:r>
            <a:r>
              <a:rPr lang="en-US" sz="11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1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</a:t>
            </a:r>
            <a:r>
              <a:rPr lang="en-US" sz="11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</a:t>
            </a:r>
            <a:endParaRPr lang="en-US" sz="1100" dirty="0"/>
          </a:p>
          <a:p>
            <a:pPr marL="0" indent="0">
              <a:lnSpc>
                <a:spcPts val="1562"/>
              </a:lnSpc>
              <a:buNone/>
            </a:pPr>
            <a:r>
              <a:rPr lang="en-US" sz="110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итого: 1.001s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85800" y="4800600"/>
            <a:ext cx="2513000" cy="91440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05256" y="502005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4" name="Text 12"/>
          <p:cNvSpPr/>
          <p:nvPr/>
        </p:nvSpPr>
        <p:spPr>
          <a:xfrm>
            <a:off x="905256" y="50200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344168" y="5015484"/>
            <a:ext cx="1635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до запуска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05256" y="5367528"/>
            <a:ext cx="20740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Внутри горутины будет поздно.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454832" y="4800600"/>
            <a:ext cx="2513000" cy="91440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74288" y="502005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9" name="Text 17"/>
          <p:cNvSpPr/>
          <p:nvPr/>
        </p:nvSpPr>
        <p:spPr>
          <a:xfrm>
            <a:off x="3674288" y="50200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113200" y="5015484"/>
            <a:ext cx="1635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defer wg.Done()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74288" y="5367528"/>
            <a:ext cx="20740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Сработает даже при панике.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223864" y="4800600"/>
            <a:ext cx="2513000" cy="91440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43320" y="502005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24" name="Text 22"/>
          <p:cNvSpPr/>
          <p:nvPr/>
        </p:nvSpPr>
        <p:spPr>
          <a:xfrm>
            <a:off x="6443320" y="50200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882232" y="5015484"/>
            <a:ext cx="1635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 передан явно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443320" y="5367528"/>
            <a:ext cx="20740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Страховка от ловушки цикла.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8992895" y="4800600"/>
            <a:ext cx="2513000" cy="91440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212351" y="502005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29" name="Text 27"/>
          <p:cNvSpPr/>
          <p:nvPr/>
        </p:nvSpPr>
        <p:spPr>
          <a:xfrm>
            <a:off x="9212351" y="50200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651263" y="5015484"/>
            <a:ext cx="1635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Порядок любой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9212351" y="5367528"/>
            <a:ext cx="20740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Финишируют как получится.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183</TotalTime>
  <Words>2006</Words>
  <Application>Microsoft Macintosh PowerPoint</Application>
  <PresentationFormat>Широкоэкранный</PresentationFormat>
  <Paragraphs>342</Paragraphs>
  <Slides>14</Slides>
  <Notes>14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19" baseType="lpstr">
      <vt:lpstr>Arial</vt:lpstr>
      <vt:lpstr>Calibri</vt:lpstr>
      <vt:lpstr>Cambria</vt:lpstr>
      <vt:lpstr>Courier New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 с нуля — Занятие 16</dc:title>
  <dc:subject>PptxGenJS Presentation</dc:subject>
  <dc:creator>Курс Go с нуля</dc:creator>
  <cp:lastModifiedBy>Rabboni Bafoev</cp:lastModifiedBy>
  <cp:revision>2</cp:revision>
  <dcterms:created xsi:type="dcterms:W3CDTF">2026-08-23T05:00:06Z</dcterms:created>
  <dcterms:modified xsi:type="dcterms:W3CDTF">2026-09-28T15:42:41Z</dcterms:modified>
</cp:coreProperties>
</file>