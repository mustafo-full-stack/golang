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818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Знакомство</a:t>
            </a: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600" b="1" dirty="0" err="1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</a:t>
            </a: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 язык, зачем он нужен и как написать первую программу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Go: история, философия, особенности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применяется Go в реальной индустрии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и настройка среды разработки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программа и структура Go-файла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9D133-60D2-F985-EF7A-0AAE56481929}"/>
              </a:ext>
            </a:extLst>
          </p:cNvPr>
          <p:cNvSpPr txBox="1"/>
          <p:nvPr/>
        </p:nvSpPr>
        <p:spPr>
          <a:xfrm>
            <a:off x="2545080" y="5744771"/>
            <a:ext cx="710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1" dirty="0">
                <a:latin typeface="+mj-lt"/>
              </a:rPr>
              <a:t>Ментор курса </a:t>
            </a:r>
            <a:r>
              <a:rPr lang="en-US" sz="2400" b="1" i="1" dirty="0">
                <a:latin typeface="+mj-lt"/>
              </a:rPr>
              <a:t>: </a:t>
            </a:r>
            <a:r>
              <a:rPr lang="ru-RU" sz="2400" b="1" i="1" dirty="0" err="1">
                <a:latin typeface="+mj-lt"/>
              </a:rPr>
              <a:t>Бафоев</a:t>
            </a:r>
            <a:r>
              <a:rPr lang="ru-RU" sz="2400" b="1" i="1" dirty="0">
                <a:latin typeface="+mj-lt"/>
              </a:rPr>
              <a:t> </a:t>
            </a:r>
            <a:r>
              <a:rPr lang="ru-RU" sz="2400" b="1" i="1" dirty="0" err="1">
                <a:latin typeface="+mj-lt"/>
              </a:rPr>
              <a:t>Раббони</a:t>
            </a:r>
            <a:r>
              <a:rPr lang="ru-RU" sz="2400" b="1" i="1" dirty="0">
                <a:latin typeface="+mj-lt"/>
              </a:rPr>
              <a:t> </a:t>
            </a:r>
            <a:r>
              <a:rPr lang="ru-RU" sz="2400" b="1" i="1" dirty="0" err="1">
                <a:latin typeface="+mj-lt"/>
              </a:rPr>
              <a:t>Негматуллоевич</a:t>
            </a:r>
            <a:endParaRPr lang="ru-TJ" sz="2400" b="1" i="1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успеем за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блока: от теории к первой запущенной программе.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5263744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438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Язык 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482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и зачем создал Go, чем он отличается от Python, Java и C++, какие задачи решает лучше всего.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2152" y="1737360"/>
            <a:ext cx="5263744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160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646160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00520" y="1952244"/>
            <a:ext cx="438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Установка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1608" y="2395728"/>
            <a:ext cx="482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Ставим компилятор, проверяем go version, настраиваем VS Code 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GoLand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447288"/>
            <a:ext cx="5263744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" y="366674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44168" y="3662172"/>
            <a:ext cx="438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Hello, World!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256" y="4105656"/>
            <a:ext cx="482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программа: пишем, компилируем, запускаем. Разбираем, что делает каждая строка.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42152" y="3447288"/>
            <a:ext cx="5263744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1608" y="366674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6461608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0520" y="3662172"/>
            <a:ext cx="438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Модули go mod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61608" y="4105656"/>
            <a:ext cx="482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модуль, зачем нужен go.mod и как правильно создавать новый проект.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53400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5596128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концу занятия у каждого на компьютере работает Go и запускается собственная программа.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Go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85216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45920"/>
            <a:ext cx="5340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(Golang) 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компилируемый язык программирования со статической типизацией, созданный в Google для разработки больших и быстрых серверных систем.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идеи — три инженера Google: Роб Пайк, Кен Томпсон, Роберт Гризмер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публичный релиз — 2009 год, версия 1.0 — 2012 год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</a:t>
            </a:r>
            <a:r>
              <a:rPr lang="en-US" sz="13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1417320"/>
            <a:ext cx="464789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  <p:txBody>
          <a:bodyPr/>
          <a:lstStyle/>
          <a:p>
            <a:endParaRPr lang="ru-TJ" dirty="0"/>
          </a:p>
        </p:txBody>
      </p:sp>
      <p:sp>
        <p:nvSpPr>
          <p:cNvPr id="10" name="Shape 8"/>
          <p:cNvSpPr/>
          <p:nvPr/>
        </p:nvSpPr>
        <p:spPr>
          <a:xfrm>
            <a:off x="7077456" y="16367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77456" y="1636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16368" y="1632204"/>
            <a:ext cx="37700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Простой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77456" y="2075688"/>
            <a:ext cx="433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ключевых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синтаксий</a:t>
            </a: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простой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простота 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 </a:t>
            </a: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легкость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>
              <a:lnSpc>
                <a:spcPts val="1700"/>
              </a:lnSpc>
              <a:buNone/>
            </a:pP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писать хороший 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код 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навык</a:t>
            </a:r>
          </a:p>
        </p:txBody>
      </p:sp>
      <p:sp>
        <p:nvSpPr>
          <p:cNvPr id="14" name="Shape 12"/>
          <p:cNvSpPr/>
          <p:nvPr/>
        </p:nvSpPr>
        <p:spPr>
          <a:xfrm>
            <a:off x="6858000" y="2743200"/>
            <a:ext cx="464789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77456" y="2962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77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16368" y="2958084"/>
            <a:ext cx="37700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Быстрый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77456" y="3401568"/>
            <a:ext cx="4208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Компиляция в машинный код, без 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виртуальной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машины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исполняемый файл(</a:t>
            </a:r>
            <a:r>
              <a:rPr lang="ru-RU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бинарник</a:t>
            </a: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0" y="4165092"/>
            <a:ext cx="464789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77456" y="42885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77456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16368" y="4283964"/>
            <a:ext cx="37700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111111"/>
                </a:solidFill>
                <a:latin typeface="Cambria" pitchFamily="34" charset="0"/>
              </a:rPr>
              <a:t>Конкурентный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77456" y="4727448"/>
            <a:ext cx="4208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Горутины и каналы встроены в 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писать высокопроизводительные и масштабируемые системы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0" y="5175504"/>
            <a:ext cx="4647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4709160"/>
            <a:ext cx="5852160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Философия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41832" y="5093208"/>
            <a:ext cx="53400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48"/>
              </a:lnSpc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«Делать простые вещи просто». В языке всего 25 ключевых слов — синтаксис можно выучить за </a:t>
            </a:r>
            <a:r>
              <a:rPr lang="en-US" sz="14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</a:t>
            </a:r>
            <a:r>
              <a:rPr lang="ru-RU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</a:t>
            </a: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если быть очень оптимистичным 😁.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Какую боль решает Go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год, Google: миллионы строк C++ и Java, огромные сборки, сложный код.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11626" cy="2331720"/>
          </a:xfrm>
          <a:prstGeom prst="roundRect">
            <a:avLst>
              <a:gd name="adj" fmla="val 235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2157984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Долгая компиляция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23544" y="283464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большого проекта на C++ занимала десятки минут.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3544" y="376732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 компилируется за секунды.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90034" y="1965960"/>
            <a:ext cx="3411626" cy="2331720"/>
          </a:xfrm>
          <a:prstGeom prst="roundRect">
            <a:avLst>
              <a:gd name="adj" fmla="val 235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7778" y="2157984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27778" y="2414016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Сложность языка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7778" y="283464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Наследование, шаблоны, перегрузка операторов, тонны правил.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27778" y="376732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 намеренно минималистичен.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4269" y="1965960"/>
            <a:ext cx="3411626" cy="2331720"/>
          </a:xfrm>
          <a:prstGeom prst="roundRect">
            <a:avLst>
              <a:gd name="adj" fmla="val 235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2013" y="2157984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32013" y="2414016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Многоядерность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32013" y="283464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Потоки ОС тяжёлые, работать с ними неудобно и опасно.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2013" y="376732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Горутины дешёвые и простые.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617720"/>
            <a:ext cx="10820095" cy="1143000"/>
          </a:xfrm>
          <a:prstGeom prst="roundRect">
            <a:avLst>
              <a:gd name="adj" fmla="val 48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001768"/>
            <a:ext cx="1030803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проектировали не как «ещё один язык», а как инструмент промышленной разработки: быстрая сборка, читаемый код, </a:t>
            </a:r>
            <a:r>
              <a:rPr lang="ru-RU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конкурентность</a:t>
            </a: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</a:t>
            </a: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параллелизм. Поэтому в нём нет многого из того, что есть в C++ — и это осознанное решение.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ОСОБЕННОСТИ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</a:t>
            </a:r>
            <a:r>
              <a:rPr lang="en-US" sz="3300" b="1" dirty="0" err="1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</a:t>
            </a:r>
            <a:r>
              <a:rPr lang="en-US" sz="3300" b="1" dirty="0" err="1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любят</a:t>
            </a: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7922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787652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бинарник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5256" y="2231136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Компилируется в самодостаточный исполняемый файл. Не нужен интерпретатор или JVM на сервере.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3938" y="1572768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3394" y="17922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2306" y="1787652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Статическая типизация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3394" y="2231136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проверяются на этапе компиляции: множество ошибок ловится до запуска программы.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2077" y="1572768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1533" y="17922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40445" y="1787652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Сборщик мусора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01533" y="2231136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освобождается автоматически — как в Python, но без потери скорости.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584448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44168" y="3799332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Горутины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5256" y="4242816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Параллельные задачи запускаются словом go. Тысячи горутин — норма для одной программы.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83938" y="3584448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3394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8" name="Text 26"/>
          <p:cNvSpPr/>
          <p:nvPr/>
        </p:nvSpPr>
        <p:spPr>
          <a:xfrm>
            <a:off x="4603394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42306" y="3799332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ключевых слов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03394" y="4242816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синтаксиса, нет классов и наследования. Чужой код читается легко.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82077" y="3584448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01533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33" name="Text 31"/>
          <p:cNvSpPr/>
          <p:nvPr/>
        </p:nvSpPr>
        <p:spPr>
          <a:xfrm>
            <a:off x="8301533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40445" y="3799332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Богатый</a:t>
            </a: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1500" b="1" dirty="0" err="1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туллинг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01533" y="4242816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HTTP-сервер, JSON, 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бенчмарки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профилирование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pprof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 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форматирование</a:t>
            </a:r>
            <a:r>
              <a:rPr lang="ru-RU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50" dirty="0" err="1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gofmt</a:t>
            </a: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всё в стандартной библиотеке.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85800" y="55321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gofmt — встроенный форматировщик. В Go нет споров о стиле кода: есть один канонический формат, и его применяет инструмент.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применяется Go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— язык инфраструктуры и высоконагруженных сервисов.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3474720" cy="1280160"/>
          </a:xfrm>
          <a:prstGeom prst="roundRect">
            <a:avLst>
              <a:gd name="adj" fmla="val 428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20574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и микросервисы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5256" y="2404872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и gRPC API, обработка тысяч запросов в секунду на скромном сервере.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474720" cy="1280160"/>
          </a:xfrm>
          <a:prstGeom prst="roundRect">
            <a:avLst>
              <a:gd name="adj" fmla="val 428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0574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и облака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54296" y="2404872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Kubernetes, Terraform, Prometheus, Grafana — всё написано на Go.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355848"/>
            <a:ext cx="3474720" cy="1280160"/>
          </a:xfrm>
          <a:prstGeom prst="roundRect">
            <a:avLst>
              <a:gd name="adj" fmla="val 428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353872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CLI-утилиты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5256" y="388620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бинарник без зависимостей идеально подходит для консольных инструментов.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3355848"/>
            <a:ext cx="3474720" cy="1280160"/>
          </a:xfrm>
          <a:prstGeom prst="roundRect">
            <a:avLst>
              <a:gd name="adj" fmla="val 428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353872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Сетевые сервисы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54296" y="388620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Прокси, брокеры, чаты, WebSocket-серверы — там, где нужен параллелизм.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1874520"/>
            <a:ext cx="3322015" cy="2715768"/>
          </a:xfrm>
          <a:prstGeom prst="roundRect">
            <a:avLst>
              <a:gd name="adj" fmla="val 202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2057400"/>
            <a:ext cx="2864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39912" y="2377440"/>
            <a:ext cx="282823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Uber, Netflix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Dropbox, Twitch, Cloudflare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Yandex, VK, Ozon, Avito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ru-RU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Bank, Sber, Wildberries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Go — не лучший выбор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Мобильные приложения, десктопный GUI, тяжёлый data science и машинное обучение: там сильнее Kotlin, Swift и Python. Универсальных языков не бывает — выбирают под задачу.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на фоне других языков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17352" cy="294436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Типизация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статическая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динамическая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статическая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статическая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Выполнение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компиляция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интерпретация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компиляция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 работы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максимальная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 памятью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сборщик мусора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сборщик мусора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сборщик мусора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вручную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 входа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Параллелизм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горутины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GIL мешает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потоки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потоки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89204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941832" y="5020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Ниша Go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41832" y="527608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близка к C++, а простота — к Python. Go занимает место между «быстро писать» и «быстро работает»: именно поэтому на нём пишут серверную инфраструктуру.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Ставим Go за 5 минут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3423818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7693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Скачать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5256" y="2212848"/>
            <a:ext cx="29849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go.dev/dl — выбрать установщик под свою ОС: Windows (.msi), macOS (.pkg), Linux (архив .tar.gz).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3938" y="1554480"/>
            <a:ext cx="3423818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3394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2306" y="17693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Установить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3394" y="2212848"/>
            <a:ext cx="29849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установки делает всё сам и прописывает Go в PATH. На Linux — распаковать в /usr/local.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2077" y="1554480"/>
            <a:ext cx="3423818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1533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40445" y="17693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Проверить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01533" y="2212848"/>
            <a:ext cx="29849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новый терминал и убедиться, что команда go доступна и показывает версию.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429000"/>
            <a:ext cx="6035040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50215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ТЕРМИНАЛ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6968" y="3758184"/>
            <a:ext cx="5632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 version go1.24.0 windows/amd64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env GOPATH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C:\Users\Student\go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95160" y="3429000"/>
            <a:ext cx="4510735" cy="1600200"/>
          </a:xfrm>
          <a:prstGeom prst="roundRect">
            <a:avLst>
              <a:gd name="adj" fmla="val 34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35570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команда не найдена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51192" y="3813048"/>
            <a:ext cx="3998671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Закройте и откройте терминал заново — переменная PATH подхватывается только в новых окнах. Если не помогло, проверьте PATH вручную.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5257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Строки, начинающиеся с //, — это комментарии. Здесь ими показан ожидаемый вывод команды.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или GoLand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50028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55648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542032"/>
            <a:ext cx="47013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Установить расширение «Go» от Google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первом открытии .go файла согласиться на установку инструментов (gopls и др.)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Лёгкий, быстрый, подходит для учёбы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5868" y="1554480"/>
            <a:ext cx="5250028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1900" y="1755648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11900" y="2011680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GoLand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30188" y="2542032"/>
            <a:ext cx="47013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Полноценная IDE, всё работает из коробки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Мощный отладчик и рефакторинг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Платная, но бесплатна для студентов по .edu почте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даёт настроенный редактор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5800" y="4828032"/>
            <a:ext cx="2540432" cy="685800"/>
          </a:xfrm>
          <a:prstGeom prst="roundRect">
            <a:avLst>
              <a:gd name="adj" fmla="val 8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4828032"/>
            <a:ext cx="221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Автодополнение кода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45688" y="4828032"/>
            <a:ext cx="2540432" cy="685800"/>
          </a:xfrm>
          <a:prstGeom prst="roundRect">
            <a:avLst>
              <a:gd name="adj" fmla="val 8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0280" y="4828032"/>
            <a:ext cx="221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Подсветка ошибок на лету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05576" y="4828032"/>
            <a:ext cx="2540432" cy="685800"/>
          </a:xfrm>
          <a:prstGeom prst="roundRect">
            <a:avLst>
              <a:gd name="adj" fmla="val 8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0168" y="4828032"/>
            <a:ext cx="221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Автоформат по Ctrl+S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5463" y="4828032"/>
            <a:ext cx="2540432" cy="685800"/>
          </a:xfrm>
          <a:prstGeom prst="roundRect">
            <a:avLst>
              <a:gd name="adj" fmla="val 8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30055" y="4828032"/>
            <a:ext cx="221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Отладчик и точки останова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Модули: go mod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— это папка с файлом go.mod, которая описывает проект и его зависимости.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943600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99339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СОЗДАЁМ ПРОЕКТ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6968" y="2249424"/>
            <a:ext cx="5541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hello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hello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 init hello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go: creating new go.mod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module hello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1920240"/>
            <a:ext cx="460217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04888" y="1993392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GO.MOD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04888" y="2249424"/>
            <a:ext cx="419983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hello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1.24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сюда будут дописываться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внешние библиотеки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480560"/>
          <a:ext cx="10817352" cy="131673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 mod init имя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создаёт новый модуль в текущей папке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 mod tidy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подтягивает нужные зависимости и убирает лишние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 get пакет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добавляет внешнюю библиотеку в проект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ПРОГРАММА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Hello, World!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492240" cy="2331720"/>
          </a:xfrm>
          <a:prstGeom prst="roundRect">
            <a:avLst>
              <a:gd name="adj" fmla="val 235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6089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MAIN.GO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60899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30"/>
              </a:lnSpc>
              <a:buNone/>
            </a:pPr>
            <a:r>
              <a:rPr lang="en-US" sz="15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"fmt"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"Привет, Go!"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52360" y="1554480"/>
            <a:ext cx="4053535" cy="2331720"/>
          </a:xfrm>
          <a:prstGeom prst="roundRect">
            <a:avLst>
              <a:gd name="adj" fmla="val 235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3528" y="1627632"/>
            <a:ext cx="3651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53528" y="1883664"/>
            <a:ext cx="365119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main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Привет, Go!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114800"/>
            <a:ext cx="3423818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43342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43296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main.go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05256" y="4773168"/>
            <a:ext cx="29849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Компилирует во временный файл и сразу запускает. Так удобно работать во время учёбы.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3938" y="4114800"/>
            <a:ext cx="3423818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394" y="43342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4603394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2306" y="43296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build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03394" y="4773168"/>
            <a:ext cx="29849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исполняемый файл рядом с кодом: hello.exe или ./hello. Его можно отдать любому.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82077" y="4114800"/>
            <a:ext cx="3423818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1533" y="43342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8301533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40445" y="43296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fmt ./...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301533" y="4773168"/>
            <a:ext cx="29849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Приводит весь код проекта к единому стилю. Делайте это перед сдачей задания.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Go-программы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760720" cy="3108960"/>
          </a:xfrm>
          <a:prstGeom prst="roundRect">
            <a:avLst>
              <a:gd name="adj" fmla="val 176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2320" y="1655064"/>
            <a:ext cx="56642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30"/>
              </a:lnSpc>
              <a:buNone/>
            </a:pPr>
            <a:r>
              <a:rPr lang="en-US" sz="15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"fmt"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dirty="0" err="1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500" dirty="0" err="1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 err="1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”</a:t>
            </a:r>
            <a:r>
              <a:rPr lang="ru-RU" sz="15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Добро пожаловать в </a:t>
            </a:r>
            <a:r>
              <a:rPr lang="ru-RU" sz="1500" dirty="0" err="1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Алиф</a:t>
            </a:r>
            <a:r>
              <a:rPr lang="ru-RU" sz="15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	Академию</a:t>
            </a:r>
            <a:r>
              <a:rPr lang="en-US" sz="15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!"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lnSpc>
                <a:spcPts val="2130"/>
              </a:lnSpc>
              <a:buNone/>
            </a:pP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20840" y="1545336"/>
            <a:ext cx="292608" cy="292608"/>
          </a:xfrm>
          <a:prstGeom prst="ellipse">
            <a:avLst/>
          </a:prstGeom>
          <a:solidFill>
            <a:srgbClr val="007D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545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41464" y="1508760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main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41464" y="1837944"/>
            <a:ext cx="43644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файл принадлежит пакету. Пакет main означает: это исполняемая программа, а не библиотека.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20840" y="2642616"/>
            <a:ext cx="292608" cy="292608"/>
          </a:xfrm>
          <a:prstGeom prst="ellipse">
            <a:avLst/>
          </a:prstGeom>
          <a:solidFill>
            <a:srgbClr val="007D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41464" y="2606040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"fmt"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141464" y="2935224"/>
            <a:ext cx="43644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Подключаем стандартный пакет форматированного ввода-вывода. Неиспользуемый импорт — ошибка компиляции.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20840" y="3739896"/>
            <a:ext cx="292608" cy="292608"/>
          </a:xfrm>
          <a:prstGeom prst="ellipse">
            <a:avLst/>
          </a:prstGeom>
          <a:solidFill>
            <a:srgbClr val="007D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739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41464" y="3703320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main()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41464" y="4032504"/>
            <a:ext cx="43644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входа. Именно с неё начинается выполнение; когда она завершилась — программа закончилась.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железных правила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Открывающая фигурная скобка всегда на той же строке, что и func — иначе ошибка.  2) Точки с запятой не нужны.  3) Неиспользуемые импорты и переменные не компилируются.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Первые ошибки новичка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undefined: fmt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23544" y="2084832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Забыли импорт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Добавьте import "fmt"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"fmt" imported and not used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0752" y="2084832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Импортировали, но не использовали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Удалите лишний импорт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5272888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37560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declaration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3544" y="3685032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Код написан вне функции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3544" y="40142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Перенесите строки внутрь main()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33008" y="3154680"/>
            <a:ext cx="5272888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37560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 error: unexpected newline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70752" y="3685032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Скобка { перенесена на новую строку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0752" y="40142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Ставьте { на строке с func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89204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5020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Привычка №1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7608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Читайте текст ошибки целиком: компилятор Go пишет файл, номер строки и суть проблемы. В 90% случаев ответ уже есть в сообщении.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 и домашнее задание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 — Знакомство с языком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76072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556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ЗАНЯТИИ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Установить Go и проверить go version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модуль: go mod init hello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и запустить Hello, World!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своё имя и группу в три строки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бинарник через go build и запустить его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785055" cy="2743200"/>
          </a:xfrm>
          <a:prstGeom prst="roundRect">
            <a:avLst>
              <a:gd name="adj" fmla="val 2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17556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95160" y="2057400"/>
            <a:ext cx="4236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Настроить редактор с автоформатом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«визитка»: имя, возраст, любимый язык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Пройти первые шаги тура: go.dev/tour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Прочитать раздел «Getting Started» на go.dev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10820095" cy="868680"/>
          </a:xfrm>
          <a:prstGeom prst="roundRect">
            <a:avLst>
              <a:gd name="adj" fmla="val 631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5001768"/>
            <a:ext cx="1030803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 и типы данных: var и :=, строки, числа, булев тип, константы и iota, ввод и вывод через пакет fmt.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1699</Words>
  <Application>Microsoft Macintosh PowerPoint</Application>
  <PresentationFormat>Широкоэкранный</PresentationFormat>
  <Paragraphs>319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1</dc:title>
  <dc:subject>PptxGenJS Presentation</dc:subject>
  <dc:creator>Курс Go с нуля</dc:creator>
  <cp:lastModifiedBy>Rabboni Bafoev</cp:lastModifiedBy>
  <cp:revision>18</cp:revision>
  <dcterms:created xsi:type="dcterms:W3CDTF">2026-08-22T07:58:43Z</dcterms:created>
  <dcterms:modified xsi:type="dcterms:W3CDTF">2026-08-23T05:46:26Z</dcterms:modified>
</cp:coreProperties>
</file>